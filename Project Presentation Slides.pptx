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Anton"/>
      <p:regular r:id="rId20"/>
    </p:embeddedFont>
    <p:embeddedFont>
      <p:font typeface="DM Sans Medium"/>
      <p:regular r:id="rId21"/>
      <p:bold r:id="rId22"/>
      <p:italic r:id="rId23"/>
      <p:boldItalic r:id="rId24"/>
    </p:embeddedFont>
    <p:embeddedFont>
      <p:font typeface="Noto Emoji"/>
      <p:regular r:id="rId25"/>
      <p:bold r:id="rId26"/>
    </p:embeddedFont>
    <p:embeddedFont>
      <p:font typeface="DM Sans SemiBold"/>
      <p:regular r:id="rId27"/>
      <p:bold r:id="rId28"/>
      <p:italic r:id="rId29"/>
      <p:boldItalic r:id="rId30"/>
    </p:embeddedFont>
    <p:embeddedFont>
      <p:font typeface="DM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nton-regular.fntdata"/><Relationship Id="rId22" Type="http://schemas.openxmlformats.org/officeDocument/2006/relationships/font" Target="fonts/DMSansMedium-bold.fntdata"/><Relationship Id="rId21" Type="http://schemas.openxmlformats.org/officeDocument/2006/relationships/font" Target="fonts/DMSansMedium-regular.fntdata"/><Relationship Id="rId24" Type="http://schemas.openxmlformats.org/officeDocument/2006/relationships/font" Target="fonts/DMSansMedium-boldItalic.fntdata"/><Relationship Id="rId23" Type="http://schemas.openxmlformats.org/officeDocument/2006/relationships/font" Target="fonts/DMSans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otoEmoji-bold.fntdata"/><Relationship Id="rId25" Type="http://schemas.openxmlformats.org/officeDocument/2006/relationships/font" Target="fonts/NotoEmoji-regular.fntdata"/><Relationship Id="rId28" Type="http://schemas.openxmlformats.org/officeDocument/2006/relationships/font" Target="fonts/DMSansSemiBold-bold.fntdata"/><Relationship Id="rId27" Type="http://schemas.openxmlformats.org/officeDocument/2006/relationships/font" Target="fonts/DMSans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DMSans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-regular.fntdata"/><Relationship Id="rId30" Type="http://schemas.openxmlformats.org/officeDocument/2006/relationships/font" Target="fonts/DMSansSemiBold-boldItalic.fntdata"/><Relationship Id="rId11" Type="http://schemas.openxmlformats.org/officeDocument/2006/relationships/slide" Target="slides/slide6.xml"/><Relationship Id="rId33" Type="http://schemas.openxmlformats.org/officeDocument/2006/relationships/font" Target="fonts/DMSans-italic.fntdata"/><Relationship Id="rId10" Type="http://schemas.openxmlformats.org/officeDocument/2006/relationships/slide" Target="slides/slide5.xml"/><Relationship Id="rId32" Type="http://schemas.openxmlformats.org/officeDocument/2006/relationships/font" Target="fonts/DM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DMSans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a9072364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a9072364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a9072364e9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a9072364e9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a9072364e9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a9072364e9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a9072364e9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a9072364e9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a9072364e9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a9072364e9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9072364e9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a9072364e9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a9072364e9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a9072364e9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a9072364e9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a9072364e9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a9072364e9_0_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a9072364e9_0_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a9072364e9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a9072364e9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a9072364e9_0_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a9072364e9_0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a9072364e9_0_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a9072364e9_0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a9072364e9_0_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a9072364e9_0_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a9072364e9_0_7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a9072364e9_0_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g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914850" y="1365900"/>
            <a:ext cx="7314300" cy="241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845375" y="4716000"/>
            <a:ext cx="54534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ans Medium"/>
              <a:buNone/>
              <a:defRPr sz="1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3" type="subTitle"/>
          </p:nvPr>
        </p:nvSpPr>
        <p:spPr>
          <a:xfrm>
            <a:off x="125700" y="121800"/>
            <a:ext cx="31881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 Medium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4" type="subTitle"/>
          </p:nvPr>
        </p:nvSpPr>
        <p:spPr>
          <a:xfrm>
            <a:off x="5830275" y="125600"/>
            <a:ext cx="31881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 Medium"/>
              <a:buNone/>
              <a:defRPr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CUSTOM_5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5704625" y="278000"/>
            <a:ext cx="3313800" cy="41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/>
          <p:nvPr>
            <p:ph idx="3" type="pic"/>
          </p:nvPr>
        </p:nvSpPr>
        <p:spPr>
          <a:xfrm>
            <a:off x="125700" y="2356175"/>
            <a:ext cx="3187800" cy="20652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" type="secHead">
  <p:cSld name="SECTION_HEADER">
    <p:bg>
      <p:bgPr>
        <a:solidFill>
          <a:schemeClr val="dk2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>
            <p:ph idx="2" type="pic"/>
          </p:nvPr>
        </p:nvSpPr>
        <p:spPr>
          <a:xfrm>
            <a:off x="2642425" y="1096825"/>
            <a:ext cx="3859200" cy="24081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23" name="Google Shape;23;p4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125700" y="278000"/>
            <a:ext cx="8766900" cy="9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3" type="title"/>
          </p:nvPr>
        </p:nvSpPr>
        <p:spPr>
          <a:xfrm>
            <a:off x="125700" y="3507625"/>
            <a:ext cx="8766900" cy="9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966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">
  <p:cSld name="CUSTOM_15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5"/>
          <p:cNvSpPr txBox="1"/>
          <p:nvPr>
            <p:ph type="title"/>
          </p:nvPr>
        </p:nvSpPr>
        <p:spPr>
          <a:xfrm>
            <a:off x="914850" y="1365900"/>
            <a:ext cx="7314300" cy="241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ig number" type="twoColTx">
  <p:cSld name="TITLE_AND_TWO_COLUMNS">
    <p:bg>
      <p:bgPr>
        <a:solidFill>
          <a:schemeClr val="lt2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922700" y="1089300"/>
            <a:ext cx="7306800" cy="243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Anton"/>
              <a:buNone/>
              <a:defRPr sz="10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" type="subTitle"/>
          </p:nvPr>
        </p:nvSpPr>
        <p:spPr>
          <a:xfrm>
            <a:off x="1845375" y="3298800"/>
            <a:ext cx="14682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3439350" y="3298800"/>
            <a:ext cx="22653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5830425" y="3298800"/>
            <a:ext cx="22653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cxnSp>
        <p:nvCxnSpPr>
          <p:cNvPr id="37" name="Google Shape;37;p6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" name="Google Shape;38;p6"/>
          <p:cNvSpPr txBox="1"/>
          <p:nvPr>
            <p:ph idx="4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5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6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">
  <p:cSld name="ONE_COLUMN_TEXT">
    <p:bg>
      <p:bgPr>
        <a:solidFill>
          <a:schemeClr val="dk2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/>
          <p:nvPr>
            <p:ph idx="2" type="pic"/>
          </p:nvPr>
        </p:nvSpPr>
        <p:spPr>
          <a:xfrm>
            <a:off x="3182100" y="0"/>
            <a:ext cx="5961900" cy="47112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7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3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251400" y="1855525"/>
            <a:ext cx="2265300" cy="26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type="title"/>
          </p:nvPr>
        </p:nvSpPr>
        <p:spPr>
          <a:xfrm>
            <a:off x="251400" y="927750"/>
            <a:ext cx="22653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5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49" name="Google Shape;49;p7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">
  <p:cSld name="CUSTOM">
    <p:bg>
      <p:bgPr>
        <a:solidFill>
          <a:schemeClr val="dk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8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5" name="Google Shape;55;p8"/>
          <p:cNvSpPr/>
          <p:nvPr>
            <p:ph idx="3" type="pic"/>
          </p:nvPr>
        </p:nvSpPr>
        <p:spPr>
          <a:xfrm>
            <a:off x="125700" y="125600"/>
            <a:ext cx="8892600" cy="45858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allery">
  <p:cSld name="CUSTOM_1">
    <p:bg>
      <p:bgPr>
        <a:solidFill>
          <a:schemeClr val="dk2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>
            <p:ph idx="2" type="pic"/>
          </p:nvPr>
        </p:nvSpPr>
        <p:spPr>
          <a:xfrm>
            <a:off x="125700" y="2041425"/>
            <a:ext cx="5581500" cy="26694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9"/>
          <p:cNvSpPr/>
          <p:nvPr>
            <p:ph idx="3" type="pic"/>
          </p:nvPr>
        </p:nvSpPr>
        <p:spPr>
          <a:xfrm>
            <a:off x="5827725" y="2041425"/>
            <a:ext cx="3193200" cy="26694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9"/>
          <p:cNvSpPr/>
          <p:nvPr>
            <p:ph idx="4" type="pic"/>
          </p:nvPr>
        </p:nvSpPr>
        <p:spPr>
          <a:xfrm>
            <a:off x="120525" y="125600"/>
            <a:ext cx="3193200" cy="17892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9"/>
          <p:cNvSpPr/>
          <p:nvPr>
            <p:ph idx="5" type="pic"/>
          </p:nvPr>
        </p:nvSpPr>
        <p:spPr>
          <a:xfrm>
            <a:off x="3436750" y="125600"/>
            <a:ext cx="5581500" cy="17892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2" name="Google Shape;62;p9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6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 chart">
  <p:cSld name="CUSTOM_2">
    <p:bg>
      <p:bgPr>
        <a:solidFill>
          <a:schemeClr val="dk2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125700" y="522600"/>
            <a:ext cx="3840300" cy="17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nton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" type="subTitle"/>
          </p:nvPr>
        </p:nvSpPr>
        <p:spPr>
          <a:xfrm>
            <a:off x="125700" y="2455838"/>
            <a:ext cx="3082200" cy="8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2" type="body"/>
          </p:nvPr>
        </p:nvSpPr>
        <p:spPr>
          <a:xfrm>
            <a:off x="125700" y="3501075"/>
            <a:ext cx="3062400" cy="10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10"/>
          <p:cNvSpPr txBox="1"/>
          <p:nvPr>
            <p:ph idx="3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5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">
  <p:cSld name="CUSTOM_3">
    <p:bg>
      <p:bgPr>
        <a:solidFill>
          <a:schemeClr val="dk2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3439375" y="141600"/>
            <a:ext cx="5453400" cy="45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125825" y="659000"/>
            <a:ext cx="2516700" cy="12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125825" y="1377775"/>
            <a:ext cx="2516700" cy="12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cxnSp>
        <p:nvCxnSpPr>
          <p:cNvPr id="79" name="Google Shape;79;p11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1"/>
          <p:cNvSpPr txBox="1"/>
          <p:nvPr>
            <p:ph idx="3" type="subTitle"/>
          </p:nvPr>
        </p:nvSpPr>
        <p:spPr>
          <a:xfrm>
            <a:off x="125700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2" name="Google Shape;82;p11"/>
          <p:cNvSpPr txBox="1"/>
          <p:nvPr>
            <p:ph idx="5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ution Goals">
  <p:cSld name="CUSTOM_4">
    <p:bg>
      <p:bgPr>
        <a:solidFill>
          <a:schemeClr val="lt2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/>
          <p:nvPr>
            <p:ph idx="2" type="pic"/>
          </p:nvPr>
        </p:nvSpPr>
        <p:spPr>
          <a:xfrm>
            <a:off x="125700" y="921925"/>
            <a:ext cx="8892300" cy="26337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2"/>
          <p:cNvSpPr txBox="1"/>
          <p:nvPr>
            <p:ph idx="1" type="body"/>
          </p:nvPr>
        </p:nvSpPr>
        <p:spPr>
          <a:xfrm>
            <a:off x="2642375" y="3632600"/>
            <a:ext cx="38592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3" type="body"/>
          </p:nvPr>
        </p:nvSpPr>
        <p:spPr>
          <a:xfrm>
            <a:off x="6627325" y="3632600"/>
            <a:ext cx="2391000" cy="5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4" type="subTitle"/>
          </p:nvPr>
        </p:nvSpPr>
        <p:spPr>
          <a:xfrm>
            <a:off x="125700" y="3666950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type="title"/>
          </p:nvPr>
        </p:nvSpPr>
        <p:spPr>
          <a:xfrm>
            <a:off x="125700" y="125600"/>
            <a:ext cx="8766900" cy="9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90" name="Google Shape;90;p12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" name="Google Shape;91;p12"/>
          <p:cNvSpPr txBox="1"/>
          <p:nvPr>
            <p:ph idx="5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2" name="Google Shape;92;p12"/>
          <p:cNvSpPr txBox="1"/>
          <p:nvPr>
            <p:ph idx="6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USTOM_6">
    <p:bg>
      <p:bgPr>
        <a:solidFill>
          <a:schemeClr val="dk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>
            <p:ph idx="1" type="body"/>
          </p:nvPr>
        </p:nvSpPr>
        <p:spPr>
          <a:xfrm>
            <a:off x="5830325" y="125600"/>
            <a:ext cx="3188100" cy="7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96" name="Google Shape;96;p13"/>
          <p:cNvSpPr/>
          <p:nvPr>
            <p:ph idx="2" type="pic"/>
          </p:nvPr>
        </p:nvSpPr>
        <p:spPr>
          <a:xfrm>
            <a:off x="125700" y="1824050"/>
            <a:ext cx="2088900" cy="22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13"/>
          <p:cNvSpPr/>
          <p:nvPr>
            <p:ph idx="3" type="pic"/>
          </p:nvPr>
        </p:nvSpPr>
        <p:spPr>
          <a:xfrm>
            <a:off x="2393673" y="1824050"/>
            <a:ext cx="2088900" cy="22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3"/>
          <p:cNvSpPr/>
          <p:nvPr>
            <p:ph idx="4" type="pic"/>
          </p:nvPr>
        </p:nvSpPr>
        <p:spPr>
          <a:xfrm>
            <a:off x="4661539" y="1824050"/>
            <a:ext cx="2088900" cy="22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13"/>
          <p:cNvSpPr/>
          <p:nvPr>
            <p:ph idx="5" type="pic"/>
          </p:nvPr>
        </p:nvSpPr>
        <p:spPr>
          <a:xfrm>
            <a:off x="6929405" y="1824050"/>
            <a:ext cx="2088900" cy="22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100" name="Google Shape;100;p13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" name="Google Shape;101;p13"/>
          <p:cNvSpPr txBox="1"/>
          <p:nvPr>
            <p:ph idx="6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7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3" name="Google Shape;103;p13"/>
          <p:cNvSpPr txBox="1"/>
          <p:nvPr>
            <p:ph type="title"/>
          </p:nvPr>
        </p:nvSpPr>
        <p:spPr>
          <a:xfrm>
            <a:off x="125700" y="1362200"/>
            <a:ext cx="20889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nton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idx="8" type="subTitle"/>
          </p:nvPr>
        </p:nvSpPr>
        <p:spPr>
          <a:xfrm>
            <a:off x="125700" y="4077300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idx="9" type="title"/>
          </p:nvPr>
        </p:nvSpPr>
        <p:spPr>
          <a:xfrm>
            <a:off x="2393625" y="1378200"/>
            <a:ext cx="20889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nton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06" name="Google Shape;106;p13"/>
          <p:cNvSpPr txBox="1"/>
          <p:nvPr>
            <p:ph idx="13" type="subTitle"/>
          </p:nvPr>
        </p:nvSpPr>
        <p:spPr>
          <a:xfrm>
            <a:off x="2393625" y="4091034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14" type="title"/>
          </p:nvPr>
        </p:nvSpPr>
        <p:spPr>
          <a:xfrm>
            <a:off x="4661525" y="1378200"/>
            <a:ext cx="20889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nton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idx="15" type="subTitle"/>
          </p:nvPr>
        </p:nvSpPr>
        <p:spPr>
          <a:xfrm>
            <a:off x="4661525" y="4091034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16" type="title"/>
          </p:nvPr>
        </p:nvSpPr>
        <p:spPr>
          <a:xfrm>
            <a:off x="6929425" y="1378200"/>
            <a:ext cx="20889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nton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idx="17" type="subTitle"/>
          </p:nvPr>
        </p:nvSpPr>
        <p:spPr>
          <a:xfrm>
            <a:off x="6929425" y="4091034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18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dget">
  <p:cSld name="CUSTOM_7">
    <p:bg>
      <p:bgPr>
        <a:solidFill>
          <a:schemeClr val="lt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 txBox="1"/>
          <p:nvPr>
            <p:ph type="title"/>
          </p:nvPr>
        </p:nvSpPr>
        <p:spPr>
          <a:xfrm>
            <a:off x="133150" y="125600"/>
            <a:ext cx="3180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nton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14"/>
          <p:cNvSpPr txBox="1"/>
          <p:nvPr>
            <p:ph idx="1" type="body"/>
          </p:nvPr>
        </p:nvSpPr>
        <p:spPr>
          <a:xfrm>
            <a:off x="5830325" y="125600"/>
            <a:ext cx="3188100" cy="7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16" name="Google Shape;116;p14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" name="Google Shape;117;p14"/>
          <p:cNvSpPr txBox="1"/>
          <p:nvPr>
            <p:ph idx="2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8" name="Google Shape;118;p14"/>
          <p:cNvSpPr txBox="1"/>
          <p:nvPr>
            <p:ph idx="3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16">
    <p:bg>
      <p:bgPr>
        <a:solidFill>
          <a:schemeClr val="lt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/>
          <p:nvPr>
            <p:ph type="title"/>
          </p:nvPr>
        </p:nvSpPr>
        <p:spPr>
          <a:xfrm>
            <a:off x="133150" y="125600"/>
            <a:ext cx="3180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nton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2" name="Google Shape;122;p15"/>
          <p:cNvSpPr txBox="1"/>
          <p:nvPr>
            <p:ph idx="1" type="body"/>
          </p:nvPr>
        </p:nvSpPr>
        <p:spPr>
          <a:xfrm>
            <a:off x="5830325" y="125600"/>
            <a:ext cx="3188100" cy="7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23" name="Google Shape;123;p15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15"/>
          <p:cNvSpPr txBox="1"/>
          <p:nvPr>
            <p:ph idx="2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3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">
  <p:cSld name="CUSTOM_8">
    <p:bg>
      <p:bgPr>
        <a:solidFill>
          <a:schemeClr val="dk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" name="Google Shape;128;p16"/>
          <p:cNvCxnSpPr/>
          <p:nvPr/>
        </p:nvCxnSpPr>
        <p:spPr>
          <a:xfrm>
            <a:off x="125725" y="1460150"/>
            <a:ext cx="8892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16"/>
          <p:cNvSpPr txBox="1"/>
          <p:nvPr>
            <p:ph type="title"/>
          </p:nvPr>
        </p:nvSpPr>
        <p:spPr>
          <a:xfrm>
            <a:off x="133150" y="125600"/>
            <a:ext cx="4105200" cy="10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30" name="Google Shape;130;p16"/>
          <p:cNvSpPr txBox="1"/>
          <p:nvPr>
            <p:ph idx="2" type="title"/>
          </p:nvPr>
        </p:nvSpPr>
        <p:spPr>
          <a:xfrm>
            <a:off x="121500" y="1544925"/>
            <a:ext cx="15981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31" name="Google Shape;131;p16"/>
          <p:cNvSpPr txBox="1"/>
          <p:nvPr>
            <p:ph idx="3" type="title"/>
          </p:nvPr>
        </p:nvSpPr>
        <p:spPr>
          <a:xfrm>
            <a:off x="2516675" y="1544925"/>
            <a:ext cx="17157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32" name="Google Shape;132;p16"/>
          <p:cNvSpPr txBox="1"/>
          <p:nvPr>
            <p:ph idx="4" type="title"/>
          </p:nvPr>
        </p:nvSpPr>
        <p:spPr>
          <a:xfrm>
            <a:off x="4907700" y="1544925"/>
            <a:ext cx="1719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33" name="Google Shape;133;p16"/>
          <p:cNvSpPr txBox="1"/>
          <p:nvPr>
            <p:ph idx="5" type="title"/>
          </p:nvPr>
        </p:nvSpPr>
        <p:spPr>
          <a:xfrm>
            <a:off x="7300884" y="1544925"/>
            <a:ext cx="17151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34" name="Google Shape;134;p16"/>
          <p:cNvSpPr txBox="1"/>
          <p:nvPr>
            <p:ph idx="1" type="subTitle"/>
          </p:nvPr>
        </p:nvSpPr>
        <p:spPr>
          <a:xfrm>
            <a:off x="121500" y="3443500"/>
            <a:ext cx="14682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35" name="Google Shape;135;p16"/>
          <p:cNvSpPr txBox="1"/>
          <p:nvPr>
            <p:ph idx="6" type="subTitle"/>
          </p:nvPr>
        </p:nvSpPr>
        <p:spPr>
          <a:xfrm>
            <a:off x="2513725" y="3443500"/>
            <a:ext cx="15867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36" name="Google Shape;136;p16"/>
          <p:cNvSpPr txBox="1"/>
          <p:nvPr>
            <p:ph idx="7" type="subTitle"/>
          </p:nvPr>
        </p:nvSpPr>
        <p:spPr>
          <a:xfrm>
            <a:off x="4912111" y="3443500"/>
            <a:ext cx="15798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37" name="Google Shape;137;p16"/>
          <p:cNvSpPr txBox="1"/>
          <p:nvPr>
            <p:ph idx="8" type="subTitle"/>
          </p:nvPr>
        </p:nvSpPr>
        <p:spPr>
          <a:xfrm>
            <a:off x="7300884" y="3443500"/>
            <a:ext cx="15819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38" name="Google Shape;138;p16"/>
          <p:cNvSpPr txBox="1"/>
          <p:nvPr>
            <p:ph idx="9" type="body"/>
          </p:nvPr>
        </p:nvSpPr>
        <p:spPr>
          <a:xfrm>
            <a:off x="7300884" y="3813050"/>
            <a:ext cx="17151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39" name="Google Shape;139;p16"/>
          <p:cNvSpPr txBox="1"/>
          <p:nvPr>
            <p:ph idx="13" type="body"/>
          </p:nvPr>
        </p:nvSpPr>
        <p:spPr>
          <a:xfrm>
            <a:off x="122450" y="3813050"/>
            <a:ext cx="15921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40" name="Google Shape;140;p16"/>
          <p:cNvSpPr txBox="1"/>
          <p:nvPr>
            <p:ph idx="14" type="body"/>
          </p:nvPr>
        </p:nvSpPr>
        <p:spPr>
          <a:xfrm>
            <a:off x="2514752" y="3813050"/>
            <a:ext cx="17208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41" name="Google Shape;141;p16"/>
          <p:cNvSpPr txBox="1"/>
          <p:nvPr>
            <p:ph idx="15" type="body"/>
          </p:nvPr>
        </p:nvSpPr>
        <p:spPr>
          <a:xfrm>
            <a:off x="4912596" y="3813050"/>
            <a:ext cx="17130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cxnSp>
        <p:nvCxnSpPr>
          <p:cNvPr id="142" name="Google Shape;142;p16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" name="Google Shape;143;p16"/>
          <p:cNvSpPr txBox="1"/>
          <p:nvPr>
            <p:ph idx="16" type="subTitle"/>
          </p:nvPr>
        </p:nvSpPr>
        <p:spPr>
          <a:xfrm>
            <a:off x="125725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4" name="Google Shape;144;p16"/>
          <p:cNvSpPr txBox="1"/>
          <p:nvPr>
            <p:ph idx="17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5" name="Google Shape;145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ution Steps">
  <p:cSld name="CUSTOM_10">
    <p:bg>
      <p:bgPr>
        <a:solidFill>
          <a:schemeClr val="dk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 txBox="1"/>
          <p:nvPr>
            <p:ph type="title"/>
          </p:nvPr>
        </p:nvSpPr>
        <p:spPr>
          <a:xfrm>
            <a:off x="133150" y="125600"/>
            <a:ext cx="3180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48" name="Google Shape;148;p17"/>
          <p:cNvSpPr txBox="1"/>
          <p:nvPr>
            <p:ph idx="1" type="body"/>
          </p:nvPr>
        </p:nvSpPr>
        <p:spPr>
          <a:xfrm>
            <a:off x="6627325" y="1256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49" name="Google Shape;149;p17"/>
          <p:cNvSpPr txBox="1"/>
          <p:nvPr>
            <p:ph idx="2" type="subTitle"/>
          </p:nvPr>
        </p:nvSpPr>
        <p:spPr>
          <a:xfrm>
            <a:off x="5033375" y="125600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50" name="Google Shape;150;p17"/>
          <p:cNvSpPr txBox="1"/>
          <p:nvPr>
            <p:ph idx="3" type="body"/>
          </p:nvPr>
        </p:nvSpPr>
        <p:spPr>
          <a:xfrm>
            <a:off x="6627300" y="17662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51" name="Google Shape;151;p17"/>
          <p:cNvSpPr txBox="1"/>
          <p:nvPr>
            <p:ph idx="4" type="subTitle"/>
          </p:nvPr>
        </p:nvSpPr>
        <p:spPr>
          <a:xfrm>
            <a:off x="5033350" y="1766188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52" name="Google Shape;152;p17"/>
          <p:cNvSpPr txBox="1"/>
          <p:nvPr>
            <p:ph idx="5" type="body"/>
          </p:nvPr>
        </p:nvSpPr>
        <p:spPr>
          <a:xfrm>
            <a:off x="6627300" y="34068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53" name="Google Shape;153;p17"/>
          <p:cNvSpPr txBox="1"/>
          <p:nvPr>
            <p:ph idx="6" type="subTitle"/>
          </p:nvPr>
        </p:nvSpPr>
        <p:spPr>
          <a:xfrm>
            <a:off x="5033350" y="3406775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154" name="Google Shape;154;p17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17"/>
          <p:cNvSpPr txBox="1"/>
          <p:nvPr>
            <p:ph idx="7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6" name="Google Shape;156;p17"/>
          <p:cNvSpPr txBox="1"/>
          <p:nvPr>
            <p:ph idx="8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157" name="Google Shape;157;p17"/>
          <p:cNvCxnSpPr/>
          <p:nvPr/>
        </p:nvCxnSpPr>
        <p:spPr>
          <a:xfrm>
            <a:off x="1888263" y="1208900"/>
            <a:ext cx="2414400" cy="893700"/>
          </a:xfrm>
          <a:prstGeom prst="curvedConnector3">
            <a:avLst>
              <a:gd fmla="val 645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8" name="Google Shape;158;p17"/>
          <p:cNvSpPr/>
          <p:nvPr>
            <p:ph idx="9" type="pic"/>
          </p:nvPr>
        </p:nvSpPr>
        <p:spPr>
          <a:xfrm>
            <a:off x="125700" y="2356175"/>
            <a:ext cx="3187800" cy="2065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9">
    <p:bg>
      <p:bgPr>
        <a:solidFill>
          <a:schemeClr val="dk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>
            <p:ph type="title"/>
          </p:nvPr>
        </p:nvSpPr>
        <p:spPr>
          <a:xfrm>
            <a:off x="1578300" y="2304300"/>
            <a:ext cx="7314300" cy="24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9pPr>
          </a:lstStyle>
          <a:p/>
        </p:txBody>
      </p:sp>
      <p:sp>
        <p:nvSpPr>
          <p:cNvPr id="162" name="Google Shape;162;p18"/>
          <p:cNvSpPr txBox="1"/>
          <p:nvPr>
            <p:ph idx="1" type="subTitle"/>
          </p:nvPr>
        </p:nvSpPr>
        <p:spPr>
          <a:xfrm>
            <a:off x="125750" y="125600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63" name="Google Shape;163;p18"/>
          <p:cNvSpPr txBox="1"/>
          <p:nvPr>
            <p:ph idx="2" type="subTitle"/>
          </p:nvPr>
        </p:nvSpPr>
        <p:spPr>
          <a:xfrm>
            <a:off x="1845425" y="125600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64" name="Google Shape;164;p18"/>
          <p:cNvSpPr txBox="1"/>
          <p:nvPr>
            <p:ph idx="3" type="body"/>
          </p:nvPr>
        </p:nvSpPr>
        <p:spPr>
          <a:xfrm>
            <a:off x="125700" y="730550"/>
            <a:ext cx="15939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65" name="Google Shape;165;p18"/>
          <p:cNvSpPr txBox="1"/>
          <p:nvPr>
            <p:ph idx="4" type="body"/>
          </p:nvPr>
        </p:nvSpPr>
        <p:spPr>
          <a:xfrm>
            <a:off x="1845375" y="730550"/>
            <a:ext cx="14682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">
  <p:cSld name="CUSTOM_11">
    <p:bg>
      <p:bgPr>
        <a:solidFill>
          <a:schemeClr val="lt2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/>
          <p:nvPr>
            <p:ph idx="2" type="pic"/>
          </p:nvPr>
        </p:nvSpPr>
        <p:spPr>
          <a:xfrm>
            <a:off x="251400" y="1381838"/>
            <a:ext cx="2030100" cy="19434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19"/>
          <p:cNvSpPr/>
          <p:nvPr>
            <p:ph idx="3" type="pic"/>
          </p:nvPr>
        </p:nvSpPr>
        <p:spPr>
          <a:xfrm>
            <a:off x="2455067" y="1381838"/>
            <a:ext cx="2030100" cy="19434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19"/>
          <p:cNvSpPr/>
          <p:nvPr>
            <p:ph idx="4" type="pic"/>
          </p:nvPr>
        </p:nvSpPr>
        <p:spPr>
          <a:xfrm>
            <a:off x="4658734" y="1381838"/>
            <a:ext cx="2030100" cy="19434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19"/>
          <p:cNvSpPr/>
          <p:nvPr>
            <p:ph idx="5" type="pic"/>
          </p:nvPr>
        </p:nvSpPr>
        <p:spPr>
          <a:xfrm>
            <a:off x="6862400" y="1381838"/>
            <a:ext cx="2030100" cy="19434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19"/>
          <p:cNvSpPr txBox="1"/>
          <p:nvPr>
            <p:ph type="title"/>
          </p:nvPr>
        </p:nvSpPr>
        <p:spPr>
          <a:xfrm>
            <a:off x="139825" y="140075"/>
            <a:ext cx="3970800" cy="15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2" name="Google Shape;172;p19"/>
          <p:cNvSpPr txBox="1"/>
          <p:nvPr>
            <p:ph idx="1" type="subTitle"/>
          </p:nvPr>
        </p:nvSpPr>
        <p:spPr>
          <a:xfrm>
            <a:off x="251400" y="3420138"/>
            <a:ext cx="20298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19"/>
          <p:cNvSpPr txBox="1"/>
          <p:nvPr>
            <p:ph idx="6" type="subTitle"/>
          </p:nvPr>
        </p:nvSpPr>
        <p:spPr>
          <a:xfrm>
            <a:off x="2455145" y="3433871"/>
            <a:ext cx="20298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4" name="Google Shape;174;p19"/>
          <p:cNvSpPr txBox="1"/>
          <p:nvPr>
            <p:ph idx="7" type="subTitle"/>
          </p:nvPr>
        </p:nvSpPr>
        <p:spPr>
          <a:xfrm>
            <a:off x="4658867" y="3433871"/>
            <a:ext cx="20298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5" name="Google Shape;175;p19"/>
          <p:cNvSpPr txBox="1"/>
          <p:nvPr>
            <p:ph idx="8" type="subTitle"/>
          </p:nvPr>
        </p:nvSpPr>
        <p:spPr>
          <a:xfrm>
            <a:off x="6862588" y="3433871"/>
            <a:ext cx="20298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76" name="Google Shape;176;p19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19"/>
          <p:cNvSpPr txBox="1"/>
          <p:nvPr>
            <p:ph idx="9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8" name="Google Shape;178;p19"/>
          <p:cNvSpPr txBox="1"/>
          <p:nvPr>
            <p:ph idx="13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9" name="Google Shape;179;p19"/>
          <p:cNvSpPr txBox="1"/>
          <p:nvPr>
            <p:ph idx="14" type="body"/>
          </p:nvPr>
        </p:nvSpPr>
        <p:spPr>
          <a:xfrm>
            <a:off x="252125" y="3753975"/>
            <a:ext cx="20301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19"/>
          <p:cNvSpPr txBox="1"/>
          <p:nvPr>
            <p:ph idx="15" type="body"/>
          </p:nvPr>
        </p:nvSpPr>
        <p:spPr>
          <a:xfrm>
            <a:off x="3218350" y="74186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1" name="Google Shape;181;p19"/>
          <p:cNvSpPr txBox="1"/>
          <p:nvPr>
            <p:ph idx="16" type="body"/>
          </p:nvPr>
        </p:nvSpPr>
        <p:spPr>
          <a:xfrm>
            <a:off x="3218350" y="8720875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2" name="Google Shape;182;p19"/>
          <p:cNvSpPr txBox="1"/>
          <p:nvPr>
            <p:ph idx="17" type="body"/>
          </p:nvPr>
        </p:nvSpPr>
        <p:spPr>
          <a:xfrm>
            <a:off x="2455075" y="3753963"/>
            <a:ext cx="20301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3" name="Google Shape;183;p19"/>
          <p:cNvSpPr txBox="1"/>
          <p:nvPr>
            <p:ph idx="18" type="body"/>
          </p:nvPr>
        </p:nvSpPr>
        <p:spPr>
          <a:xfrm>
            <a:off x="4658725" y="3753963"/>
            <a:ext cx="20301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4" name="Google Shape;184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19"/>
          <p:cNvSpPr txBox="1"/>
          <p:nvPr>
            <p:ph idx="19" type="body"/>
          </p:nvPr>
        </p:nvSpPr>
        <p:spPr>
          <a:xfrm>
            <a:off x="6862375" y="3753963"/>
            <a:ext cx="20301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">
  <p:cSld name="CUSTOM_12">
    <p:bg>
      <p:bgPr>
        <a:solidFill>
          <a:schemeClr val="dk2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7" name="Google Shape;187;p20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20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9" name="Google Shape;189;p20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0" name="Google Shape;190;p20"/>
          <p:cNvSpPr txBox="1"/>
          <p:nvPr>
            <p:ph type="title"/>
          </p:nvPr>
        </p:nvSpPr>
        <p:spPr>
          <a:xfrm>
            <a:off x="129375" y="525200"/>
            <a:ext cx="31806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9pPr>
          </a:lstStyle>
          <a:p/>
        </p:txBody>
      </p:sp>
      <p:cxnSp>
        <p:nvCxnSpPr>
          <p:cNvPr id="191" name="Google Shape;191;p20"/>
          <p:cNvCxnSpPr/>
          <p:nvPr/>
        </p:nvCxnSpPr>
        <p:spPr>
          <a:xfrm>
            <a:off x="-5675" y="1923692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20"/>
          <p:cNvCxnSpPr/>
          <p:nvPr/>
        </p:nvCxnSpPr>
        <p:spPr>
          <a:xfrm>
            <a:off x="-5675" y="3319846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" name="Google Shape;193;p20"/>
          <p:cNvSpPr txBox="1"/>
          <p:nvPr>
            <p:ph idx="3" type="title"/>
          </p:nvPr>
        </p:nvSpPr>
        <p:spPr>
          <a:xfrm>
            <a:off x="129375" y="1926150"/>
            <a:ext cx="31806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9pPr>
          </a:lstStyle>
          <a:p/>
        </p:txBody>
      </p:sp>
      <p:sp>
        <p:nvSpPr>
          <p:cNvPr id="194" name="Google Shape;194;p20"/>
          <p:cNvSpPr txBox="1"/>
          <p:nvPr>
            <p:ph idx="4" type="title"/>
          </p:nvPr>
        </p:nvSpPr>
        <p:spPr>
          <a:xfrm>
            <a:off x="129375" y="3317475"/>
            <a:ext cx="31806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9pPr>
          </a:lstStyle>
          <a:p/>
        </p:txBody>
      </p:sp>
      <p:sp>
        <p:nvSpPr>
          <p:cNvPr id="195" name="Google Shape;195;p20"/>
          <p:cNvSpPr txBox="1"/>
          <p:nvPr>
            <p:ph idx="5" type="subTitle"/>
          </p:nvPr>
        </p:nvSpPr>
        <p:spPr>
          <a:xfrm>
            <a:off x="3687875" y="527550"/>
            <a:ext cx="54618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6" name="Google Shape;196;p20"/>
          <p:cNvSpPr txBox="1"/>
          <p:nvPr>
            <p:ph idx="6" type="subTitle"/>
          </p:nvPr>
        </p:nvSpPr>
        <p:spPr>
          <a:xfrm>
            <a:off x="3687875" y="1923700"/>
            <a:ext cx="54618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7" name="Google Shape;197;p20"/>
          <p:cNvSpPr txBox="1"/>
          <p:nvPr>
            <p:ph idx="7" type="subTitle"/>
          </p:nvPr>
        </p:nvSpPr>
        <p:spPr>
          <a:xfrm>
            <a:off x="3687875" y="3317400"/>
            <a:ext cx="54618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8" name="Google Shape;198;p20"/>
          <p:cNvSpPr txBox="1"/>
          <p:nvPr>
            <p:ph idx="8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9" name="Google Shape;199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Us Achievements">
  <p:cSld name="CUSTOM_18">
    <p:bg>
      <p:bgPr>
        <a:solidFill>
          <a:schemeClr val="lt2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 txBox="1"/>
          <p:nvPr>
            <p:ph type="title"/>
          </p:nvPr>
        </p:nvSpPr>
        <p:spPr>
          <a:xfrm>
            <a:off x="129375" y="52520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02" name="Google Shape;202;p21"/>
          <p:cNvCxnSpPr/>
          <p:nvPr/>
        </p:nvCxnSpPr>
        <p:spPr>
          <a:xfrm>
            <a:off x="-5675" y="15729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1"/>
          <p:cNvSpPr txBox="1"/>
          <p:nvPr>
            <p:ph idx="2" type="title"/>
          </p:nvPr>
        </p:nvSpPr>
        <p:spPr>
          <a:xfrm>
            <a:off x="129375" y="157515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4" name="Google Shape;204;p21"/>
          <p:cNvSpPr txBox="1"/>
          <p:nvPr>
            <p:ph idx="3" type="title"/>
          </p:nvPr>
        </p:nvSpPr>
        <p:spPr>
          <a:xfrm>
            <a:off x="129375" y="262275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05" name="Google Shape;205;p21"/>
          <p:cNvCxnSpPr/>
          <p:nvPr/>
        </p:nvCxnSpPr>
        <p:spPr>
          <a:xfrm>
            <a:off x="-5675" y="36683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21"/>
          <p:cNvSpPr txBox="1"/>
          <p:nvPr>
            <p:ph idx="1" type="subTitle"/>
          </p:nvPr>
        </p:nvSpPr>
        <p:spPr>
          <a:xfrm>
            <a:off x="3686104" y="527550"/>
            <a:ext cx="2829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idx="4" type="subTitle"/>
          </p:nvPr>
        </p:nvSpPr>
        <p:spPr>
          <a:xfrm>
            <a:off x="3686104" y="1572800"/>
            <a:ext cx="2829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8" name="Google Shape;208;p21"/>
          <p:cNvSpPr txBox="1"/>
          <p:nvPr>
            <p:ph idx="5" type="subTitle"/>
          </p:nvPr>
        </p:nvSpPr>
        <p:spPr>
          <a:xfrm>
            <a:off x="3686104" y="2622750"/>
            <a:ext cx="2829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9" name="Google Shape;209;p21"/>
          <p:cNvSpPr txBox="1"/>
          <p:nvPr>
            <p:ph idx="6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210" name="Google Shape;210;p21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" name="Google Shape;211;p21"/>
          <p:cNvSpPr txBox="1"/>
          <p:nvPr>
            <p:ph idx="7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2" name="Google Shape;212;p21"/>
          <p:cNvSpPr txBox="1"/>
          <p:nvPr>
            <p:ph idx="8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213" name="Google Shape;213;p21"/>
          <p:cNvCxnSpPr/>
          <p:nvPr/>
        </p:nvCxnSpPr>
        <p:spPr>
          <a:xfrm>
            <a:off x="-11400" y="5252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1"/>
          <p:cNvCxnSpPr/>
          <p:nvPr/>
        </p:nvCxnSpPr>
        <p:spPr>
          <a:xfrm>
            <a:off x="-5700" y="26206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1"/>
          <p:cNvSpPr txBox="1"/>
          <p:nvPr>
            <p:ph idx="9" type="title"/>
          </p:nvPr>
        </p:nvSpPr>
        <p:spPr>
          <a:xfrm>
            <a:off x="125700" y="367270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6" name="Google Shape;216;p21"/>
          <p:cNvSpPr txBox="1"/>
          <p:nvPr>
            <p:ph idx="13" type="subTitle"/>
          </p:nvPr>
        </p:nvSpPr>
        <p:spPr>
          <a:xfrm>
            <a:off x="3684200" y="3672700"/>
            <a:ext cx="2829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7" name="Google Shape;217;p21"/>
          <p:cNvSpPr txBox="1"/>
          <p:nvPr>
            <p:ph idx="14" type="subTitle"/>
          </p:nvPr>
        </p:nvSpPr>
        <p:spPr>
          <a:xfrm>
            <a:off x="6628933" y="524225"/>
            <a:ext cx="23895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8" name="Google Shape;218;p21"/>
          <p:cNvSpPr txBox="1"/>
          <p:nvPr>
            <p:ph idx="15" type="subTitle"/>
          </p:nvPr>
        </p:nvSpPr>
        <p:spPr>
          <a:xfrm>
            <a:off x="6628933" y="1569475"/>
            <a:ext cx="23895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9" name="Google Shape;219;p21"/>
          <p:cNvSpPr txBox="1"/>
          <p:nvPr>
            <p:ph idx="16" type="subTitle"/>
          </p:nvPr>
        </p:nvSpPr>
        <p:spPr>
          <a:xfrm>
            <a:off x="6628933" y="2619425"/>
            <a:ext cx="23895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0" name="Google Shape;220;p21"/>
          <p:cNvSpPr txBox="1"/>
          <p:nvPr>
            <p:ph idx="17" type="subTitle"/>
          </p:nvPr>
        </p:nvSpPr>
        <p:spPr>
          <a:xfrm>
            <a:off x="6627326" y="3669375"/>
            <a:ext cx="23895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1" name="Google Shape;221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ients">
  <p:cSld name="CUSTOM_13">
    <p:bg>
      <p:bgPr>
        <a:solidFill>
          <a:schemeClr val="dk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3" name="Google Shape;223;p22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22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5" name="Google Shape;225;p22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6" name="Google Shape;226;p22"/>
          <p:cNvSpPr txBox="1"/>
          <p:nvPr>
            <p:ph idx="3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7" name="Google Shape;227;p22"/>
          <p:cNvSpPr txBox="1"/>
          <p:nvPr>
            <p:ph type="title"/>
          </p:nvPr>
        </p:nvSpPr>
        <p:spPr>
          <a:xfrm>
            <a:off x="129375" y="851075"/>
            <a:ext cx="3981300" cy="33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9pPr>
          </a:lstStyle>
          <a:p/>
        </p:txBody>
      </p:sp>
      <p:sp>
        <p:nvSpPr>
          <p:cNvPr id="228" name="Google Shape;228;p22"/>
          <p:cNvSpPr txBox="1"/>
          <p:nvPr>
            <p:ph idx="4" type="subTitle"/>
          </p:nvPr>
        </p:nvSpPr>
        <p:spPr>
          <a:xfrm>
            <a:off x="5704625" y="125600"/>
            <a:ext cx="3313800" cy="13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u="sng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9" name="Google Shape;229;p22"/>
          <p:cNvSpPr txBox="1"/>
          <p:nvPr>
            <p:ph idx="5" type="subTitle"/>
          </p:nvPr>
        </p:nvSpPr>
        <p:spPr>
          <a:xfrm>
            <a:off x="5704625" y="727050"/>
            <a:ext cx="33138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230" name="Google Shape;230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4">
    <p:bg>
      <p:bgPr>
        <a:solidFill>
          <a:schemeClr val="dk2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2" name="Google Shape;232;p23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p23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4" name="Google Shape;234;p23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5" name="Google Shape;235;p23"/>
          <p:cNvSpPr txBox="1"/>
          <p:nvPr>
            <p:ph type="title"/>
          </p:nvPr>
        </p:nvSpPr>
        <p:spPr>
          <a:xfrm>
            <a:off x="133150" y="506600"/>
            <a:ext cx="4105200" cy="22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236" name="Google Shape;236;p23"/>
          <p:cNvSpPr txBox="1"/>
          <p:nvPr>
            <p:ph idx="3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7" name="Google Shape;237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8" name="Google Shape;238;p23"/>
          <p:cNvSpPr txBox="1"/>
          <p:nvPr>
            <p:ph idx="4" type="body"/>
          </p:nvPr>
        </p:nvSpPr>
        <p:spPr>
          <a:xfrm>
            <a:off x="5823300" y="3611800"/>
            <a:ext cx="30693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9" name="Google Shape;239;p23"/>
          <p:cNvSpPr txBox="1"/>
          <p:nvPr>
            <p:ph idx="5" type="body"/>
          </p:nvPr>
        </p:nvSpPr>
        <p:spPr>
          <a:xfrm>
            <a:off x="5823300" y="2959400"/>
            <a:ext cx="30693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ution statement">
  <p:cSld name="CUSTOM_17">
    <p:bg>
      <p:bgPr>
        <a:solidFill>
          <a:schemeClr val="dk2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4"/>
          <p:cNvSpPr txBox="1"/>
          <p:nvPr>
            <p:ph type="title"/>
          </p:nvPr>
        </p:nvSpPr>
        <p:spPr>
          <a:xfrm>
            <a:off x="125700" y="655300"/>
            <a:ext cx="8899800" cy="31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/>
        </p:txBody>
      </p:sp>
      <p:sp>
        <p:nvSpPr>
          <p:cNvPr id="242" name="Google Shape;242;p24"/>
          <p:cNvSpPr txBox="1"/>
          <p:nvPr>
            <p:ph idx="1" type="body"/>
          </p:nvPr>
        </p:nvSpPr>
        <p:spPr>
          <a:xfrm>
            <a:off x="6508650" y="3276875"/>
            <a:ext cx="2502600" cy="12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cxnSp>
        <p:nvCxnSpPr>
          <p:cNvPr id="243" name="Google Shape;243;p24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24"/>
          <p:cNvSpPr txBox="1"/>
          <p:nvPr>
            <p:ph idx="2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5" name="Google Shape;245;p24"/>
          <p:cNvSpPr txBox="1"/>
          <p:nvPr>
            <p:ph idx="3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6" name="Google Shape;246;p24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51" name="Google Shape;25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4" name="Google Shape;25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258" name="Google Shape;25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2" name="Google Shape;262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3" name="Google Shape;26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9" name="Google Shape;269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0" name="Google Shape;27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73" name="Google Shape;27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6" name="Google Shape;276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7" name="Google Shape;277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8" name="Google Shape;278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9" name="Google Shape;27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</a:lstStyle>
          <a:p/>
        </p:txBody>
      </p:sp>
      <p:sp>
        <p:nvSpPr>
          <p:cNvPr id="282" name="Google Shape;28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5" name="Google Shape;285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286" name="Google Shape;28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2" name="Google Shape;292;p3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3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5" name="Google Shape;295;p3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6" name="Google Shape;296;p3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7" name="Google Shape;297;p3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01" name="Google Shape;301;p3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" name="Google Shape;305;p3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6" name="Google Shape;306;p3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07" name="Google Shape;307;p3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08" name="Google Shape;308;p3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3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2" name="Google Shape;312;p3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13" name="Google Shape;313;p3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14" name="Google Shape;314;p39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15" name="Google Shape;315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6" name="Google Shape;316;p39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7" name="Google Shape;317;p39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8" name="Google Shape;318;p39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1" name="Google Shape;321;p4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22" name="Google Shape;322;p4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23" name="Google Shape;323;p4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24" name="Google Shape;324;p4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25" name="Google Shape;325;p4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26" name="Google Shape;326;p4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7" name="Google Shape;327;p4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8" name="Google Shape;328;p4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9" name="Google Shape;329;p4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4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6" name="Google Shape;336;p4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38" name="Google Shape;338;p4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9" name="Google Shape;339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0" name="Google Shape;34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5" name="Google Shape;345;p4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p4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4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8" name="Google Shape;348;p4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0" name="Google Shape;35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1" name="Google Shape;35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4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3" name="Google Shape;353;p4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4" name="Google Shape;354;p4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57" name="Google Shape;357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0" name="Google Shape;360;p4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1" name="Google Shape;361;p4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4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4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4" name="Google Shape;364;p4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4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4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4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8" name="Google Shape;368;p4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9" name="Google Shape;369;p4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45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22700" y="404350"/>
            <a:ext cx="73068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22700" y="3046200"/>
            <a:ext cx="79701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58">
          <p15:clr>
            <a:srgbClr val="E46962"/>
          </p15:clr>
        </p15:guide>
        <p15:guide id="2" pos="581">
          <p15:clr>
            <a:srgbClr val="E46962"/>
          </p15:clr>
        </p15:guide>
        <p15:guide id="3" pos="660">
          <p15:clr>
            <a:srgbClr val="E46962"/>
          </p15:clr>
        </p15:guide>
        <p15:guide id="4" pos="1083">
          <p15:clr>
            <a:srgbClr val="E46962"/>
          </p15:clr>
        </p15:guide>
        <p15:guide id="5" pos="1162">
          <p15:clr>
            <a:srgbClr val="E46962"/>
          </p15:clr>
        </p15:guide>
        <p15:guide id="6" pos="1585">
          <p15:clr>
            <a:srgbClr val="E46962"/>
          </p15:clr>
        </p15:guide>
        <p15:guide id="7" pos="1664">
          <p15:clr>
            <a:srgbClr val="E46962"/>
          </p15:clr>
        </p15:guide>
        <p15:guide id="8" pos="2087">
          <p15:clr>
            <a:srgbClr val="E46962"/>
          </p15:clr>
        </p15:guide>
        <p15:guide id="9" pos="2167">
          <p15:clr>
            <a:srgbClr val="E46962"/>
          </p15:clr>
        </p15:guide>
        <p15:guide id="10" pos="2589">
          <p15:clr>
            <a:srgbClr val="E46962"/>
          </p15:clr>
        </p15:guide>
        <p15:guide id="11" pos="2669">
          <p15:clr>
            <a:srgbClr val="E46962"/>
          </p15:clr>
        </p15:guide>
        <p15:guide id="12" pos="3091">
          <p15:clr>
            <a:srgbClr val="E46962"/>
          </p15:clr>
        </p15:guide>
        <p15:guide id="13" pos="3171">
          <p15:clr>
            <a:srgbClr val="E46962"/>
          </p15:clr>
        </p15:guide>
        <p15:guide id="14" pos="79">
          <p15:clr>
            <a:srgbClr val="E46962"/>
          </p15:clr>
        </p15:guide>
        <p15:guide id="15" pos="5681">
          <p15:clr>
            <a:srgbClr val="E46962"/>
          </p15:clr>
        </p15:guide>
        <p15:guide id="16" pos="5602">
          <p15:clr>
            <a:srgbClr val="E46962"/>
          </p15:clr>
        </p15:guide>
        <p15:guide id="17" pos="3593">
          <p15:clr>
            <a:srgbClr val="E46962"/>
          </p15:clr>
        </p15:guide>
        <p15:guide id="18" pos="3673">
          <p15:clr>
            <a:srgbClr val="E46962"/>
          </p15:clr>
        </p15:guide>
        <p15:guide id="19" pos="4096">
          <p15:clr>
            <a:srgbClr val="E46962"/>
          </p15:clr>
        </p15:guide>
        <p15:guide id="20" pos="4175">
          <p15:clr>
            <a:srgbClr val="E46962"/>
          </p15:clr>
        </p15:guide>
        <p15:guide id="21" pos="4598">
          <p15:clr>
            <a:srgbClr val="E46962"/>
          </p15:clr>
        </p15:guide>
        <p15:guide id="22" pos="4677">
          <p15:clr>
            <a:srgbClr val="E46962"/>
          </p15:clr>
        </p15:guide>
        <p15:guide id="23" pos="5100">
          <p15:clr>
            <a:srgbClr val="E46962"/>
          </p15:clr>
        </p15:guide>
        <p15:guide id="24" pos="5184">
          <p15:clr>
            <a:srgbClr val="E46962"/>
          </p15:clr>
        </p15:guide>
        <p15:guide id="25" orient="horz" pos="79">
          <p15:clr>
            <a:srgbClr val="E46962"/>
          </p15:clr>
        </p15:guide>
        <p15:guide id="26" orient="horz" pos="3161">
          <p15:clr>
            <a:srgbClr val="E46962"/>
          </p15:clr>
        </p15:guide>
        <p15:guide id="27" orient="horz" pos="297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4.jpg"/><Relationship Id="rId5" Type="http://schemas.openxmlformats.org/officeDocument/2006/relationships/image" Target="../media/image1.jpg"/><Relationship Id="rId6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ial view of a basketball court with three players." id="374" name="Google Shape;374;p4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1225" l="0" r="0" t="3772"/>
          <a:stretch/>
        </p:blipFill>
        <p:spPr>
          <a:xfrm>
            <a:off x="0" y="0"/>
            <a:ext cx="9144003" cy="5143500"/>
          </a:xfrm>
          <a:prstGeom prst="rect">
            <a:avLst/>
          </a:prstGeom>
        </p:spPr>
      </p:pic>
      <p:sp>
        <p:nvSpPr>
          <p:cNvPr id="375" name="Google Shape;375;p46"/>
          <p:cNvSpPr txBox="1"/>
          <p:nvPr>
            <p:ph type="title"/>
          </p:nvPr>
        </p:nvSpPr>
        <p:spPr>
          <a:xfrm>
            <a:off x="914850" y="1365900"/>
            <a:ext cx="7314300" cy="241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Stock Stance Dashboard with Fine-Tuned LLM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DSC 670 – Term Project (Milestone 4)</a:t>
            </a:r>
            <a:endParaRPr sz="2400"/>
          </a:p>
        </p:txBody>
      </p:sp>
      <p:sp>
        <p:nvSpPr>
          <p:cNvPr id="376" name="Google Shape;376;p46"/>
          <p:cNvSpPr txBox="1"/>
          <p:nvPr>
            <p:ph idx="1" type="subTitle"/>
          </p:nvPr>
        </p:nvSpPr>
        <p:spPr>
          <a:xfrm>
            <a:off x="1845375" y="3496675"/>
            <a:ext cx="54534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Zicheng (Chance) Xu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DSC670-T301 Advanced Uses of Generative AI (2261-1)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Professor: Frank Neugebauer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46"/>
          <p:cNvSpPr txBox="1"/>
          <p:nvPr>
            <p:ph idx="3" type="subTitle"/>
          </p:nvPr>
        </p:nvSpPr>
        <p:spPr>
          <a:xfrm>
            <a:off x="125700" y="121800"/>
            <a:ext cx="31881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11/23/2025</a:t>
            </a:r>
            <a:endParaRPr/>
          </a:p>
        </p:txBody>
      </p:sp>
      <p:sp>
        <p:nvSpPr>
          <p:cNvPr id="378" name="Google Shape;378;p46"/>
          <p:cNvSpPr txBox="1"/>
          <p:nvPr>
            <p:ph idx="4" type="subTitle"/>
          </p:nvPr>
        </p:nvSpPr>
        <p:spPr>
          <a:xfrm>
            <a:off x="5830275" y="125600"/>
            <a:ext cx="31881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Bellevue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7"/>
          <p:cNvSpPr txBox="1"/>
          <p:nvPr>
            <p:ph type="title"/>
          </p:nvPr>
        </p:nvSpPr>
        <p:spPr>
          <a:xfrm>
            <a:off x="139825" y="140075"/>
            <a:ext cx="79557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384" name="Google Shape;384;p47"/>
          <p:cNvSpPr txBox="1"/>
          <p:nvPr>
            <p:ph idx="14" type="body"/>
          </p:nvPr>
        </p:nvSpPr>
        <p:spPr>
          <a:xfrm>
            <a:off x="252125" y="3753975"/>
            <a:ext cx="20301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Build an end-to-end pipeline that scores my stock watchlist using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technical indicators + a fine-tuned OpenAI model.</a:t>
            </a:r>
            <a:endParaRPr/>
          </a:p>
        </p:txBody>
      </p:sp>
      <p:sp>
        <p:nvSpPr>
          <p:cNvPr id="385" name="Google Shape;385;p47"/>
          <p:cNvSpPr txBox="1"/>
          <p:nvPr>
            <p:ph idx="15" type="body"/>
          </p:nvPr>
        </p:nvSpPr>
        <p:spPr>
          <a:xfrm>
            <a:off x="3218350" y="74186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47"/>
          <p:cNvSpPr txBox="1"/>
          <p:nvPr>
            <p:ph idx="9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Bellevue University</a:t>
            </a:r>
            <a:endParaRPr/>
          </a:p>
        </p:txBody>
      </p:sp>
      <p:sp>
        <p:nvSpPr>
          <p:cNvPr id="387" name="Google Shape;387;p47"/>
          <p:cNvSpPr txBox="1"/>
          <p:nvPr>
            <p:ph idx="16" type="body"/>
          </p:nvPr>
        </p:nvSpPr>
        <p:spPr>
          <a:xfrm>
            <a:off x="3218350" y="8720875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7"/>
          <p:cNvSpPr txBox="1"/>
          <p:nvPr>
            <p:ph idx="13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DSC 670 – Term Project (Milestone 4)</a:t>
            </a:r>
            <a:endParaRPr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389" name="Google Shape;389;p47"/>
          <p:cNvSpPr txBox="1"/>
          <p:nvPr>
            <p:ph idx="1" type="subTitle"/>
          </p:nvPr>
        </p:nvSpPr>
        <p:spPr>
          <a:xfrm>
            <a:off x="251400" y="3420138"/>
            <a:ext cx="2029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</a:t>
            </a:r>
            <a:endParaRPr/>
          </a:p>
        </p:txBody>
      </p:sp>
      <p:sp>
        <p:nvSpPr>
          <p:cNvPr id="390" name="Google Shape;390;p47"/>
          <p:cNvSpPr txBox="1"/>
          <p:nvPr>
            <p:ph idx="6" type="subTitle"/>
          </p:nvPr>
        </p:nvSpPr>
        <p:spPr>
          <a:xfrm>
            <a:off x="2455145" y="3433871"/>
            <a:ext cx="2029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Inputs</a:t>
            </a:r>
            <a:endParaRPr/>
          </a:p>
        </p:txBody>
      </p:sp>
      <p:pic>
        <p:nvPicPr>
          <p:cNvPr descr="Person working from home." id="391" name="Google Shape;391;p4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5137" r="15137" t="0"/>
          <a:stretch/>
        </p:blipFill>
        <p:spPr>
          <a:xfrm>
            <a:off x="251400" y="1381838"/>
            <a:ext cx="2030100" cy="1943399"/>
          </a:xfrm>
          <a:prstGeom prst="rect">
            <a:avLst/>
          </a:prstGeom>
        </p:spPr>
      </p:pic>
      <p:pic>
        <p:nvPicPr>
          <p:cNvPr descr="Person working on a tablet." id="392" name="Google Shape;392;p47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15184" r="15191" t="0"/>
          <a:stretch/>
        </p:blipFill>
        <p:spPr>
          <a:xfrm>
            <a:off x="2455067" y="1381838"/>
            <a:ext cx="2030100" cy="1943402"/>
          </a:xfrm>
          <a:prstGeom prst="rect">
            <a:avLst/>
          </a:prstGeom>
        </p:spPr>
      </p:pic>
      <p:pic>
        <p:nvPicPr>
          <p:cNvPr descr="Person working on a laptop." id="393" name="Google Shape;393;p47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0" l="15161" r="15161" t="0"/>
          <a:stretch/>
        </p:blipFill>
        <p:spPr>
          <a:xfrm>
            <a:off x="4658734" y="1381838"/>
            <a:ext cx="2030100" cy="1943401"/>
          </a:xfrm>
          <a:prstGeom prst="rect">
            <a:avLst/>
          </a:prstGeom>
        </p:spPr>
      </p:pic>
      <p:sp>
        <p:nvSpPr>
          <p:cNvPr id="394" name="Google Shape;394;p47"/>
          <p:cNvSpPr txBox="1"/>
          <p:nvPr>
            <p:ph idx="7" type="subTitle"/>
          </p:nvPr>
        </p:nvSpPr>
        <p:spPr>
          <a:xfrm>
            <a:off x="4658867" y="3433871"/>
            <a:ext cx="2029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</a:t>
            </a:r>
            <a:endParaRPr/>
          </a:p>
        </p:txBody>
      </p:sp>
      <p:sp>
        <p:nvSpPr>
          <p:cNvPr id="395" name="Google Shape;395;p47"/>
          <p:cNvSpPr txBox="1"/>
          <p:nvPr>
            <p:ph idx="8" type="subTitle"/>
          </p:nvPr>
        </p:nvSpPr>
        <p:spPr>
          <a:xfrm>
            <a:off x="6862588" y="3433871"/>
            <a:ext cx="2029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Delivery</a:t>
            </a:r>
            <a:endParaRPr/>
          </a:p>
        </p:txBody>
      </p:sp>
      <p:sp>
        <p:nvSpPr>
          <p:cNvPr id="396" name="Google Shape;396;p47"/>
          <p:cNvSpPr txBox="1"/>
          <p:nvPr>
            <p:ph idx="17" type="body"/>
          </p:nvPr>
        </p:nvSpPr>
        <p:spPr>
          <a:xfrm>
            <a:off x="2455075" y="3753963"/>
            <a:ext cx="20301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AutoNum type="arabicPeriod"/>
            </a:pPr>
            <a:r>
              <a:rPr lang="en"/>
              <a:t>Chance_Watchlist.csv (129 tickers + names)</a:t>
            </a:r>
            <a:endParaRPr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AutoNum type="arabicPeriod"/>
            </a:pPr>
            <a:r>
              <a:rPr lang="en"/>
              <a:t>Market data from Yahoo Finance</a:t>
            </a:r>
            <a:endParaRPr/>
          </a:p>
        </p:txBody>
      </p:sp>
      <p:sp>
        <p:nvSpPr>
          <p:cNvPr id="397" name="Google Shape;397;p47"/>
          <p:cNvSpPr txBox="1"/>
          <p:nvPr>
            <p:ph idx="18" type="body"/>
          </p:nvPr>
        </p:nvSpPr>
        <p:spPr>
          <a:xfrm>
            <a:off x="4658725" y="3753963"/>
            <a:ext cx="20301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CSV with engineered metrics, rule-based local_score, LLM stance &amp; score, and final_decision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8" name="Google Shape;398;p47"/>
          <p:cNvSpPr txBox="1"/>
          <p:nvPr>
            <p:ph idx="19" type="body"/>
          </p:nvPr>
        </p:nvSpPr>
        <p:spPr>
          <a:xfrm>
            <a:off x="6862375" y="3753963"/>
            <a:ext cx="20301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Interactive Streamlit dashboard for exploration</a:t>
            </a:r>
            <a:endParaRPr/>
          </a:p>
        </p:txBody>
      </p:sp>
      <p:pic>
        <p:nvPicPr>
          <p:cNvPr descr="Person using stylus pen and editing photo on tablet." id="399" name="Google Shape;399;p47"/>
          <p:cNvPicPr preferRelativeResize="0"/>
          <p:nvPr/>
        </p:nvPicPr>
        <p:blipFill rotWithShape="1">
          <a:blip r:embed="rId6">
            <a:alphaModFix/>
          </a:blip>
          <a:srcRect b="0" l="11971" r="20656" t="0"/>
          <a:stretch/>
        </p:blipFill>
        <p:spPr>
          <a:xfrm>
            <a:off x="6862377" y="1381850"/>
            <a:ext cx="2029798" cy="1943376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8"/>
          <p:cNvSpPr txBox="1"/>
          <p:nvPr>
            <p:ph idx="14" type="body"/>
          </p:nvPr>
        </p:nvSpPr>
        <p:spPr>
          <a:xfrm>
            <a:off x="2516525" y="3373150"/>
            <a:ext cx="1720800" cy="11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~420 days of daily OHLCV per ticker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Downloaded in batches via yfinance</a:t>
            </a:r>
            <a:endParaRPr/>
          </a:p>
        </p:txBody>
      </p:sp>
      <p:sp>
        <p:nvSpPr>
          <p:cNvPr id="406" name="Google Shape;406;p48"/>
          <p:cNvSpPr txBox="1"/>
          <p:nvPr>
            <p:ph type="title"/>
          </p:nvPr>
        </p:nvSpPr>
        <p:spPr>
          <a:xfrm>
            <a:off x="133150" y="125600"/>
            <a:ext cx="88872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Data Sources &amp; Engineered Features</a:t>
            </a:r>
            <a:endParaRPr sz="3600"/>
          </a:p>
        </p:txBody>
      </p:sp>
      <p:sp>
        <p:nvSpPr>
          <p:cNvPr id="407" name="Google Shape;407;p48"/>
          <p:cNvSpPr txBox="1"/>
          <p:nvPr>
            <p:ph idx="2" type="title"/>
          </p:nvPr>
        </p:nvSpPr>
        <p:spPr>
          <a:xfrm>
            <a:off x="121500" y="1544925"/>
            <a:ext cx="15981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Watchlist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48"/>
          <p:cNvSpPr txBox="1"/>
          <p:nvPr>
            <p:ph idx="3" type="title"/>
          </p:nvPr>
        </p:nvSpPr>
        <p:spPr>
          <a:xfrm>
            <a:off x="2640325" y="1544925"/>
            <a:ext cx="19317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800"/>
              <a:t>Market Data (Yahoo Finance)</a:t>
            </a:r>
            <a:endParaRPr sz="1800"/>
          </a:p>
        </p:txBody>
      </p:sp>
      <p:sp>
        <p:nvSpPr>
          <p:cNvPr id="409" name="Google Shape;409;p48"/>
          <p:cNvSpPr txBox="1"/>
          <p:nvPr>
            <p:ph idx="4" type="title"/>
          </p:nvPr>
        </p:nvSpPr>
        <p:spPr>
          <a:xfrm>
            <a:off x="4907700" y="1544925"/>
            <a:ext cx="1719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Key Features (per ticker)</a:t>
            </a:r>
            <a:endParaRPr sz="1800"/>
          </a:p>
        </p:txBody>
      </p:sp>
      <p:sp>
        <p:nvSpPr>
          <p:cNvPr id="410" name="Google Shape;410;p48"/>
          <p:cNvSpPr txBox="1"/>
          <p:nvPr>
            <p:ph idx="13" type="body"/>
          </p:nvPr>
        </p:nvSpPr>
        <p:spPr>
          <a:xfrm>
            <a:off x="122450" y="3373150"/>
            <a:ext cx="1592100" cy="11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Source</a:t>
            </a:r>
            <a:r>
              <a:rPr lang="en"/>
              <a:t>: Personal CSV of tickers and company names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Normalized to Yahoo Finance symbols (e.g., BRK.B → BRK-B)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1" name="Google Shape;411;p48"/>
          <p:cNvSpPr txBox="1"/>
          <p:nvPr>
            <p:ph idx="15" type="body"/>
          </p:nvPr>
        </p:nvSpPr>
        <p:spPr>
          <a:xfrm>
            <a:off x="4912600" y="3373250"/>
            <a:ext cx="3644100" cy="11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u="sng"/>
              <a:t>Price metrics</a:t>
            </a:r>
            <a:r>
              <a:rPr lang="en"/>
              <a:t>: close, change_1d, 52-week hi_52w, lo_52w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u="sng"/>
              <a:t>Technical indicators</a:t>
            </a:r>
            <a:r>
              <a:rPr lang="en"/>
              <a:t>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RSI, MACD (line, signal, hist)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Bollinger Bands: bb_mid, bb_upper, bb_lower, bb_pctb, bb_bandwidth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Support / resistance using local extrema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TD Sequential signals + counts + perfected flags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2" name="Google Shape;412;p48"/>
          <p:cNvSpPr txBox="1"/>
          <p:nvPr>
            <p:ph idx="4294967295" type="title"/>
          </p:nvPr>
        </p:nvSpPr>
        <p:spPr>
          <a:xfrm>
            <a:off x="119450" y="2387650"/>
            <a:ext cx="1598100" cy="7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latin typeface="Noto Emoji"/>
                <a:ea typeface="Noto Emoji"/>
                <a:cs typeface="Noto Emoji"/>
                <a:sym typeface="Noto Emoji"/>
              </a:rPr>
              <a:t>💡</a:t>
            </a:r>
            <a:endParaRPr sz="3600">
              <a:latin typeface="Noto Emoji"/>
              <a:ea typeface="Noto Emoji"/>
              <a:cs typeface="Noto Emoji"/>
              <a:sym typeface="Noto Emoj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3600">
              <a:latin typeface="Noto Emoji"/>
              <a:ea typeface="Noto Emoji"/>
              <a:cs typeface="Noto Emoji"/>
              <a:sym typeface="Noto Emoj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Noto Emoji"/>
              <a:ea typeface="Noto Emoji"/>
              <a:cs typeface="Noto Emoji"/>
              <a:sym typeface="Noto Emoji"/>
            </a:endParaRPr>
          </a:p>
        </p:txBody>
      </p:sp>
      <p:sp>
        <p:nvSpPr>
          <p:cNvPr id="413" name="Google Shape;413;p48"/>
          <p:cNvSpPr txBox="1"/>
          <p:nvPr>
            <p:ph idx="4294967295" type="title"/>
          </p:nvPr>
        </p:nvSpPr>
        <p:spPr>
          <a:xfrm>
            <a:off x="2642425" y="2392150"/>
            <a:ext cx="1719600" cy="7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latin typeface="Noto Emoji"/>
                <a:ea typeface="Noto Emoji"/>
                <a:cs typeface="Noto Emoji"/>
                <a:sym typeface="Noto Emoji"/>
              </a:rPr>
              <a:t>📊</a:t>
            </a:r>
            <a:endParaRPr sz="3600">
              <a:latin typeface="Noto Emoji"/>
              <a:ea typeface="Noto Emoji"/>
              <a:cs typeface="Noto Emoji"/>
              <a:sym typeface="Noto Emoj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3600">
              <a:latin typeface="Noto Emoji"/>
              <a:ea typeface="Noto Emoji"/>
              <a:cs typeface="Noto Emoji"/>
              <a:sym typeface="Noto Emoj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Noto Emoji"/>
              <a:ea typeface="Noto Emoji"/>
              <a:cs typeface="Noto Emoji"/>
              <a:sym typeface="Noto Emoji"/>
            </a:endParaRPr>
          </a:p>
        </p:txBody>
      </p:sp>
      <p:sp>
        <p:nvSpPr>
          <p:cNvPr id="414" name="Google Shape;414;p48"/>
          <p:cNvSpPr txBox="1"/>
          <p:nvPr>
            <p:ph idx="4294967295" type="title"/>
          </p:nvPr>
        </p:nvSpPr>
        <p:spPr>
          <a:xfrm>
            <a:off x="4969475" y="2392150"/>
            <a:ext cx="1721700" cy="7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latin typeface="Noto Emoji"/>
                <a:ea typeface="Noto Emoji"/>
                <a:cs typeface="Noto Emoji"/>
                <a:sym typeface="Noto Emoji"/>
              </a:rPr>
              <a:t>📣</a:t>
            </a:r>
            <a:endParaRPr sz="3600">
              <a:latin typeface="Noto Emoji"/>
              <a:ea typeface="Noto Emoji"/>
              <a:cs typeface="Noto Emoji"/>
              <a:sym typeface="Noto Emoj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3600">
              <a:latin typeface="Noto Emoji"/>
              <a:ea typeface="Noto Emoji"/>
              <a:cs typeface="Noto Emoji"/>
              <a:sym typeface="Noto Emoj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Noto Emoji"/>
              <a:ea typeface="Noto Emoji"/>
              <a:cs typeface="Noto Emoji"/>
              <a:sym typeface="Noto Emoji"/>
            </a:endParaRPr>
          </a:p>
        </p:txBody>
      </p:sp>
      <p:sp>
        <p:nvSpPr>
          <p:cNvPr id="415" name="Google Shape;415;p48"/>
          <p:cNvSpPr txBox="1"/>
          <p:nvPr>
            <p:ph idx="16" type="subTitle"/>
          </p:nvPr>
        </p:nvSpPr>
        <p:spPr>
          <a:xfrm>
            <a:off x="125725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Bellevue University</a:t>
            </a:r>
            <a:endParaRPr/>
          </a:p>
        </p:txBody>
      </p:sp>
      <p:sp>
        <p:nvSpPr>
          <p:cNvPr id="416" name="Google Shape;416;p48"/>
          <p:cNvSpPr txBox="1"/>
          <p:nvPr>
            <p:ph idx="17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DSC 670 – Term Project (Milestone 4)</a:t>
            </a:r>
            <a:endParaRPr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417" name="Google Shape;417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9"/>
          <p:cNvSpPr txBox="1"/>
          <p:nvPr>
            <p:ph idx="1" type="body"/>
          </p:nvPr>
        </p:nvSpPr>
        <p:spPr>
          <a:xfrm>
            <a:off x="6627325" y="1256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/>
              <a:t>RSI_oversold, MACD_bullish, near_lower_band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/>
              <a:t>TD_recent_buy9, TD_buy_perfected, on_support, etc.</a:t>
            </a:r>
            <a:endParaRPr sz="1200"/>
          </a:p>
        </p:txBody>
      </p:sp>
      <p:sp>
        <p:nvSpPr>
          <p:cNvPr id="423" name="Google Shape;423;p49"/>
          <p:cNvSpPr txBox="1"/>
          <p:nvPr>
            <p:ph idx="4" type="subTitle"/>
          </p:nvPr>
        </p:nvSpPr>
        <p:spPr>
          <a:xfrm>
            <a:off x="5033350" y="1766188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 simple heuristic converts tags → integer local_score:</a:t>
            </a:r>
            <a:endParaRPr sz="1400"/>
          </a:p>
        </p:txBody>
      </p:sp>
      <p:sp>
        <p:nvSpPr>
          <p:cNvPr id="424" name="Google Shape;424;p49"/>
          <p:cNvSpPr txBox="1"/>
          <p:nvPr>
            <p:ph idx="6" type="subTitle"/>
          </p:nvPr>
        </p:nvSpPr>
        <p:spPr>
          <a:xfrm>
            <a:off x="5033350" y="3406775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/>
              <a:t>This yields a technical-only stance:</a:t>
            </a:r>
            <a:endParaRPr sz="1400"/>
          </a:p>
        </p:txBody>
      </p:sp>
      <p:sp>
        <p:nvSpPr>
          <p:cNvPr id="425" name="Google Shape;425;p49"/>
          <p:cNvSpPr txBox="1"/>
          <p:nvPr>
            <p:ph idx="8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DSC 670 – Term Project (Milestone 4)</a:t>
            </a:r>
            <a:endParaRPr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426" name="Google Shape;426;p49"/>
          <p:cNvSpPr txBox="1"/>
          <p:nvPr>
            <p:ph type="title"/>
          </p:nvPr>
        </p:nvSpPr>
        <p:spPr>
          <a:xfrm>
            <a:off x="133150" y="125600"/>
            <a:ext cx="44985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Local Rule-Based Scoring (Technical View)</a:t>
            </a:r>
            <a:endParaRPr sz="2400"/>
          </a:p>
        </p:txBody>
      </p:sp>
      <p:sp>
        <p:nvSpPr>
          <p:cNvPr id="427" name="Google Shape;427;p49"/>
          <p:cNvSpPr txBox="1"/>
          <p:nvPr>
            <p:ph idx="7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Bellevue University</a:t>
            </a:r>
            <a:endParaRPr/>
          </a:p>
        </p:txBody>
      </p:sp>
      <p:sp>
        <p:nvSpPr>
          <p:cNvPr id="428" name="Google Shape;428;p49"/>
          <p:cNvSpPr txBox="1"/>
          <p:nvPr>
            <p:ph idx="2" type="subTitle"/>
          </p:nvPr>
        </p:nvSpPr>
        <p:spPr>
          <a:xfrm>
            <a:off x="5033375" y="125600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For each ticker, we derive tags from metrics (e.g.):</a:t>
            </a:r>
            <a:endParaRPr sz="1400"/>
          </a:p>
        </p:txBody>
      </p:sp>
      <p:sp>
        <p:nvSpPr>
          <p:cNvPr id="429" name="Google Shape;429;p49"/>
          <p:cNvSpPr txBox="1"/>
          <p:nvPr>
            <p:ph idx="3" type="body"/>
          </p:nvPr>
        </p:nvSpPr>
        <p:spPr>
          <a:xfrm>
            <a:off x="6627300" y="17662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/>
              <a:t>Bullish signals add points (e.g., RSI oversold, MACD bullish, support)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/>
              <a:t>Bearish signals subtract points (e.g., RSI overbought, MACD bearish, resistance)</a:t>
            </a:r>
            <a:endParaRPr sz="1200"/>
          </a:p>
        </p:txBody>
      </p:sp>
      <p:sp>
        <p:nvSpPr>
          <p:cNvPr id="430" name="Google Shape;430;p49"/>
          <p:cNvSpPr txBox="1"/>
          <p:nvPr>
            <p:ph idx="5" type="body"/>
          </p:nvPr>
        </p:nvSpPr>
        <p:spPr>
          <a:xfrm>
            <a:off x="6627300" y="34068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/>
              <a:t>in roughly [-3, 3]</a:t>
            </a:r>
            <a:endParaRPr sz="1200"/>
          </a:p>
        </p:txBody>
      </p:sp>
      <p:pic>
        <p:nvPicPr>
          <p:cNvPr descr="Person checking smartwatch with smartphone." id="431" name="Google Shape;431;p49"/>
          <p:cNvPicPr preferRelativeResize="0"/>
          <p:nvPr>
            <p:ph idx="9" type="pic"/>
          </p:nvPr>
        </p:nvPicPr>
        <p:blipFill rotWithShape="1">
          <a:blip r:embed="rId3">
            <a:alphaModFix/>
          </a:blip>
          <a:srcRect b="1399" l="0" r="0" t="1399"/>
          <a:stretch/>
        </p:blipFill>
        <p:spPr>
          <a:xfrm>
            <a:off x="125700" y="2356175"/>
            <a:ext cx="3187799" cy="2065201"/>
          </a:xfrm>
          <a:prstGeom prst="rect">
            <a:avLst/>
          </a:prstGeom>
        </p:spPr>
      </p:pic>
      <p:sp>
        <p:nvSpPr>
          <p:cNvPr id="432" name="Google Shape;432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0"/>
          <p:cNvSpPr txBox="1"/>
          <p:nvPr>
            <p:ph idx="1" type="body"/>
          </p:nvPr>
        </p:nvSpPr>
        <p:spPr>
          <a:xfrm>
            <a:off x="6627325" y="1256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/>
              <a:t>Model: ft:gpt-4o-mini-2024-07-18:personal:stance-head-v1:…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/>
              <a:t>Trained on structured examples: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/>
              <a:t>features → (stance, score, summary)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/>
          </a:p>
        </p:txBody>
      </p:sp>
      <p:sp>
        <p:nvSpPr>
          <p:cNvPr id="438" name="Google Shape;438;p50"/>
          <p:cNvSpPr txBox="1"/>
          <p:nvPr>
            <p:ph idx="4" type="subTitle"/>
          </p:nvPr>
        </p:nvSpPr>
        <p:spPr>
          <a:xfrm>
            <a:off x="5033350" y="1766188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Configured to m3_artifacts/inference_config.json:</a:t>
            </a:r>
            <a:endParaRPr sz="1400"/>
          </a:p>
        </p:txBody>
      </p:sp>
      <p:sp>
        <p:nvSpPr>
          <p:cNvPr id="439" name="Google Shape;439;p50"/>
          <p:cNvSpPr txBox="1"/>
          <p:nvPr>
            <p:ph idx="6" type="subTitle"/>
          </p:nvPr>
        </p:nvSpPr>
        <p:spPr>
          <a:xfrm>
            <a:off x="5033350" y="3406775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/>
              <a:t>For each row, the model returns:</a:t>
            </a:r>
            <a:endParaRPr sz="1400"/>
          </a:p>
        </p:txBody>
      </p:sp>
      <p:sp>
        <p:nvSpPr>
          <p:cNvPr id="440" name="Google Shape;440;p50"/>
          <p:cNvSpPr txBox="1"/>
          <p:nvPr>
            <p:ph idx="8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DSC 670 – Term Project (Milestone 4)</a:t>
            </a:r>
            <a:endParaRPr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441" name="Google Shape;441;p50"/>
          <p:cNvSpPr txBox="1"/>
          <p:nvPr>
            <p:ph type="title"/>
          </p:nvPr>
        </p:nvSpPr>
        <p:spPr>
          <a:xfrm>
            <a:off x="133150" y="125600"/>
            <a:ext cx="44985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Fine-Tuned LLM Stance Head</a:t>
            </a:r>
            <a:endParaRPr sz="2400"/>
          </a:p>
        </p:txBody>
      </p:sp>
      <p:sp>
        <p:nvSpPr>
          <p:cNvPr id="442" name="Google Shape;442;p50"/>
          <p:cNvSpPr txBox="1"/>
          <p:nvPr>
            <p:ph idx="7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Bellevue University</a:t>
            </a:r>
            <a:endParaRPr/>
          </a:p>
        </p:txBody>
      </p:sp>
      <p:sp>
        <p:nvSpPr>
          <p:cNvPr id="443" name="Google Shape;443;p50"/>
          <p:cNvSpPr txBox="1"/>
          <p:nvPr>
            <p:ph idx="2" type="subTitle"/>
          </p:nvPr>
        </p:nvSpPr>
        <p:spPr>
          <a:xfrm>
            <a:off x="5033375" y="125600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Fine-tuned model:</a:t>
            </a:r>
            <a:endParaRPr sz="1400"/>
          </a:p>
        </p:txBody>
      </p:sp>
      <p:sp>
        <p:nvSpPr>
          <p:cNvPr id="444" name="Google Shape;444;p50"/>
          <p:cNvSpPr txBox="1"/>
          <p:nvPr>
            <p:ph idx="3" type="body"/>
          </p:nvPr>
        </p:nvSpPr>
        <p:spPr>
          <a:xfrm>
            <a:off x="6627300" y="17662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/>
              <a:t>fine_tuned_model, system_prompt_path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/>
              <a:t>feature_cols (numeric + tag features)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/>
              <a:t>symbol_col, date_col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/>
          </a:p>
        </p:txBody>
      </p:sp>
      <p:sp>
        <p:nvSpPr>
          <p:cNvPr id="445" name="Google Shape;445;p50"/>
          <p:cNvSpPr txBox="1"/>
          <p:nvPr>
            <p:ph idx="5" type="body"/>
          </p:nvPr>
        </p:nvSpPr>
        <p:spPr>
          <a:xfrm>
            <a:off x="6627300" y="3372425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/>
              <a:t>llm_stance ∈ {BULLISH, NEUTRAL, BEARISH}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/>
              <a:t>llm_score ∈ [-2, 2]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/>
              <a:t>llm_summary – 1–2 sentence explanation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/>
          </a:p>
        </p:txBody>
      </p:sp>
      <p:sp>
        <p:nvSpPr>
          <p:cNvPr id="446" name="Google Shape;446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Person showing another person something on a smartphone." id="447" name="Google Shape;447;p5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5986" l="0" r="0" t="25986"/>
          <a:stretch/>
        </p:blipFill>
        <p:spPr>
          <a:xfrm>
            <a:off x="137125" y="2337331"/>
            <a:ext cx="3165102" cy="2112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1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Bellevue University</a:t>
            </a:r>
            <a:endParaRPr/>
          </a:p>
        </p:txBody>
      </p:sp>
      <p:sp>
        <p:nvSpPr>
          <p:cNvPr id="453" name="Google Shape;453;p51"/>
          <p:cNvSpPr txBox="1"/>
          <p:nvPr>
            <p:ph idx="5" type="subTitle"/>
          </p:nvPr>
        </p:nvSpPr>
        <p:spPr>
          <a:xfrm>
            <a:off x="3687875" y="527550"/>
            <a:ext cx="54618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Normalize local_score from [-3, 3] → [-1, 1]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Normalize llm_score from [-2, 2] → [-1, 1]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Blend: final_score = 0.4 * local_norm + 0.6 * llm_norm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54" name="Google Shape;454;p51"/>
          <p:cNvSpPr txBox="1"/>
          <p:nvPr>
            <p:ph type="title"/>
          </p:nvPr>
        </p:nvSpPr>
        <p:spPr>
          <a:xfrm>
            <a:off x="129375" y="525200"/>
            <a:ext cx="31806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Combine technical local_score and LLM score into final_score:</a:t>
            </a:r>
            <a:endParaRPr sz="1400"/>
          </a:p>
        </p:txBody>
      </p:sp>
      <p:sp>
        <p:nvSpPr>
          <p:cNvPr id="455" name="Google Shape;455;p51"/>
          <p:cNvSpPr txBox="1"/>
          <p:nvPr>
            <p:ph idx="6" type="subTitle"/>
          </p:nvPr>
        </p:nvSpPr>
        <p:spPr>
          <a:xfrm>
            <a:off x="3687875" y="1926150"/>
            <a:ext cx="54618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/>
              <a:t>≥ 0.75 → Strong Buy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/>
              <a:t>0.25 – 0.75 → Buy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/>
              <a:t>-0.25 – 0.25 → Hold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/>
              <a:t>-0.75 – -0.25 → Sell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/>
              <a:t>≤ -0.75 → Strong Sell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/>
          </a:p>
        </p:txBody>
      </p:sp>
      <p:sp>
        <p:nvSpPr>
          <p:cNvPr id="456" name="Google Shape;456;p51"/>
          <p:cNvSpPr txBox="1"/>
          <p:nvPr>
            <p:ph idx="7" type="subTitle"/>
          </p:nvPr>
        </p:nvSpPr>
        <p:spPr>
          <a:xfrm>
            <a:off x="3687875" y="3317400"/>
            <a:ext cx="54618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/>
              <a:t>One row per ticker with Name, symbol, metrics, tags,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/>
              <a:t>local_score, llm_*, final_score, final_decision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7" name="Google Shape;457;p51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DSC 670 – Term Project (Milestone 4)</a:t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458" name="Google Shape;458;p51"/>
          <p:cNvSpPr txBox="1"/>
          <p:nvPr>
            <p:ph idx="3" type="title"/>
          </p:nvPr>
        </p:nvSpPr>
        <p:spPr>
          <a:xfrm>
            <a:off x="129375" y="1926150"/>
            <a:ext cx="31806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Map final_score to final_decision buckets:</a:t>
            </a:r>
            <a:endParaRPr sz="1400"/>
          </a:p>
        </p:txBody>
      </p:sp>
      <p:sp>
        <p:nvSpPr>
          <p:cNvPr id="459" name="Google Shape;459;p51"/>
          <p:cNvSpPr txBox="1"/>
          <p:nvPr>
            <p:ph idx="4" type="title"/>
          </p:nvPr>
        </p:nvSpPr>
        <p:spPr>
          <a:xfrm>
            <a:off x="129375" y="3317475"/>
            <a:ext cx="31806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Output CSV:</a:t>
            </a:r>
            <a:endParaRPr sz="1400"/>
          </a:p>
        </p:txBody>
      </p:sp>
      <p:sp>
        <p:nvSpPr>
          <p:cNvPr id="460" name="Google Shape;460;p51"/>
          <p:cNvSpPr txBox="1"/>
          <p:nvPr>
            <p:ph idx="8" type="subTitle"/>
          </p:nvPr>
        </p:nvSpPr>
        <p:spPr>
          <a:xfrm>
            <a:off x="125700" y="125600"/>
            <a:ext cx="276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Blending Local Score + LLM Score</a:t>
            </a:r>
            <a:endParaRPr sz="1200"/>
          </a:p>
        </p:txBody>
      </p:sp>
      <p:sp>
        <p:nvSpPr>
          <p:cNvPr id="461" name="Google Shape;461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2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Bellevue University</a:t>
            </a:r>
            <a:endParaRPr/>
          </a:p>
        </p:txBody>
      </p:sp>
      <p:sp>
        <p:nvSpPr>
          <p:cNvPr id="467" name="Google Shape;467;p52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DSC 670 – Term Project (Milestone 4)</a:t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468" name="Google Shape;468;p52"/>
          <p:cNvSpPr txBox="1"/>
          <p:nvPr/>
        </p:nvSpPr>
        <p:spPr>
          <a:xfrm>
            <a:off x="178250" y="289475"/>
            <a:ext cx="1306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Python Pipeline: From Watchlist to Scored CSV</a:t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9" name="Google Shape;469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70" name="Google Shape;470;p52"/>
          <p:cNvGrpSpPr/>
          <p:nvPr/>
        </p:nvGrpSpPr>
        <p:grpSpPr>
          <a:xfrm>
            <a:off x="922700" y="889175"/>
            <a:ext cx="2417700" cy="2395250"/>
            <a:chOff x="1737350" y="889200"/>
            <a:chExt cx="2417700" cy="2395250"/>
          </a:xfrm>
        </p:grpSpPr>
        <p:pic>
          <p:nvPicPr>
            <p:cNvPr descr="Blank mock of portrait oriented smartphone." id="471" name="Google Shape;471;p52"/>
            <p:cNvPicPr preferRelativeResize="0"/>
            <p:nvPr/>
          </p:nvPicPr>
          <p:blipFill rotWithShape="1">
            <a:blip r:embed="rId3">
              <a:alphaModFix/>
            </a:blip>
            <a:srcRect b="0" l="9" r="9" t="0"/>
            <a:stretch/>
          </p:blipFill>
          <p:spPr>
            <a:xfrm>
              <a:off x="1737350" y="889200"/>
              <a:ext cx="2417700" cy="2395200"/>
            </a:xfrm>
            <a:prstGeom prst="roundRect">
              <a:avLst>
                <a:gd fmla="val 8578" name="adj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5400000" dist="47625">
                <a:srgbClr val="000000">
                  <a:alpha val="30000"/>
                </a:srgbClr>
              </a:outerShdw>
            </a:effectLst>
          </p:spPr>
        </p:pic>
        <p:sp>
          <p:nvSpPr>
            <p:cNvPr id="472" name="Google Shape;472;p52"/>
            <p:cNvSpPr txBox="1"/>
            <p:nvPr/>
          </p:nvSpPr>
          <p:spPr>
            <a:xfrm>
              <a:off x="1779050" y="961250"/>
              <a:ext cx="2331600" cy="23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build_watchlist_with_llm.py:</a:t>
              </a:r>
              <a:endPara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2921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DM Sans"/>
                <a:buChar char="●"/>
              </a:pPr>
              <a:r>
                <a:rPr lang="en" sz="1000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Loads Chance_Watchlist.csv, normalizes symbols</a:t>
              </a:r>
              <a:endPara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2921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DM Sans"/>
                <a:buChar char="●"/>
              </a:pPr>
              <a:r>
                <a:rPr lang="en" sz="1000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Downloads price history via yfinance</a:t>
              </a:r>
              <a:endPara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2921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DM Sans"/>
                <a:buChar char="●"/>
              </a:pPr>
              <a:r>
                <a:rPr lang="en" sz="1000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Computes indicators + tags + local_score</a:t>
              </a:r>
              <a:endPara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2921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DM Sans"/>
                <a:buChar char="●"/>
              </a:pPr>
              <a:r>
                <a:rPr lang="en" sz="1000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Calls fine-tuned model to add llm_stance, llm_score, llm_summary</a:t>
              </a:r>
              <a:endPara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2921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DM Sans"/>
                <a:buChar char="●"/>
              </a:pPr>
              <a:r>
                <a:rPr lang="en" sz="1000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Blends scores → final_score, final_decision</a:t>
              </a:r>
              <a:endPara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2921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DM Sans"/>
                <a:buChar char="●"/>
              </a:pPr>
              <a:r>
                <a:rPr lang="en" sz="1000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Saves watchlist_with_llm_YYYYMMDD.csv</a:t>
              </a:r>
              <a:endPara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73" name="Google Shape;473;p52"/>
          <p:cNvGrpSpPr/>
          <p:nvPr/>
        </p:nvGrpSpPr>
        <p:grpSpPr>
          <a:xfrm>
            <a:off x="4604600" y="889175"/>
            <a:ext cx="2391000" cy="2395250"/>
            <a:chOff x="5033350" y="889200"/>
            <a:chExt cx="2391000" cy="2395250"/>
          </a:xfrm>
        </p:grpSpPr>
        <p:pic>
          <p:nvPicPr>
            <p:cNvPr descr="Blank mock of portrait oriented smartphone." id="474" name="Google Shape;474;p52"/>
            <p:cNvPicPr preferRelativeResize="0"/>
            <p:nvPr/>
          </p:nvPicPr>
          <p:blipFill rotWithShape="1">
            <a:blip r:embed="rId3">
              <a:alphaModFix/>
            </a:blip>
            <a:srcRect b="0" l="9" r="9" t="0"/>
            <a:stretch/>
          </p:blipFill>
          <p:spPr>
            <a:xfrm>
              <a:off x="5033350" y="889200"/>
              <a:ext cx="2391000" cy="2395200"/>
            </a:xfrm>
            <a:prstGeom prst="roundRect">
              <a:avLst>
                <a:gd fmla="val 8578" name="adj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5400000" dist="47625">
                <a:srgbClr val="000000">
                  <a:alpha val="30000"/>
                </a:srgbClr>
              </a:outerShdw>
            </a:effectLst>
          </p:spPr>
        </p:pic>
        <p:sp>
          <p:nvSpPr>
            <p:cNvPr id="475" name="Google Shape;475;p52"/>
            <p:cNvSpPr txBox="1"/>
            <p:nvPr/>
          </p:nvSpPr>
          <p:spPr>
            <a:xfrm>
              <a:off x="5063050" y="961250"/>
              <a:ext cx="2331600" cy="23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streamlit_app.py</a:t>
              </a:r>
              <a:r>
                <a:rPr lang="en" sz="1000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:</a:t>
              </a:r>
              <a:endPara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2921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DM Sans"/>
                <a:buChar char="●"/>
              </a:pPr>
              <a:r>
                <a:rPr lang="en" sz="1000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Loads the latest watchlist_with_llm_*.csv</a:t>
              </a:r>
              <a:endPara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2921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DM Sans"/>
                <a:buChar char="●"/>
              </a:pPr>
              <a:r>
                <a:rPr lang="en" sz="1000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Provides interactive dashboard (filters, tables, charts)</a:t>
              </a:r>
              <a:endPara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2921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DM Sans"/>
                <a:buChar char="●"/>
              </a:pPr>
              <a:r>
                <a:rPr lang="en" sz="1000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Includes a “Refresh data” button wired to run_pipeline(with_llm=True)</a:t>
              </a:r>
              <a:endPara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3"/>
          <p:cNvSpPr txBox="1"/>
          <p:nvPr>
            <p:ph idx="7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Bellevue University</a:t>
            </a:r>
            <a:endParaRPr/>
          </a:p>
        </p:txBody>
      </p:sp>
      <p:sp>
        <p:nvSpPr>
          <p:cNvPr id="481" name="Google Shape;481;p53"/>
          <p:cNvSpPr txBox="1"/>
          <p:nvPr>
            <p:ph idx="1" type="subTitle"/>
          </p:nvPr>
        </p:nvSpPr>
        <p:spPr>
          <a:xfrm>
            <a:off x="3684200" y="527550"/>
            <a:ext cx="54213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Loads latest model output CSV automatically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53"/>
          <p:cNvSpPr txBox="1"/>
          <p:nvPr>
            <p:ph idx="8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DSC 670 – Term Project (Milestone 4)</a:t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483" name="Google Shape;483;p53"/>
          <p:cNvSpPr txBox="1"/>
          <p:nvPr>
            <p:ph idx="6" type="subTitle"/>
          </p:nvPr>
        </p:nvSpPr>
        <p:spPr>
          <a:xfrm>
            <a:off x="125700" y="125600"/>
            <a:ext cx="38757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Streamlit Dashboard – Main View</a:t>
            </a:r>
            <a:endParaRPr sz="1400"/>
          </a:p>
        </p:txBody>
      </p:sp>
      <p:sp>
        <p:nvSpPr>
          <p:cNvPr id="484" name="Google Shape;484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5" name="Google Shape;485;p53"/>
          <p:cNvSpPr txBox="1"/>
          <p:nvPr>
            <p:ph idx="1" type="subTitle"/>
          </p:nvPr>
        </p:nvSpPr>
        <p:spPr>
          <a:xfrm>
            <a:off x="3689488" y="1572800"/>
            <a:ext cx="54213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Click headers to sort by any metric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Sidebar filters to narrow by name, symbol, stance, decision, and score ranges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53"/>
          <p:cNvSpPr txBox="1"/>
          <p:nvPr>
            <p:ph idx="2" type="title"/>
          </p:nvPr>
        </p:nvSpPr>
        <p:spPr>
          <a:xfrm>
            <a:off x="134663" y="157280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Excel-like interaction:</a:t>
            </a:r>
            <a:endParaRPr sz="2400"/>
          </a:p>
        </p:txBody>
      </p:sp>
      <p:sp>
        <p:nvSpPr>
          <p:cNvPr id="487" name="Google Shape;487;p53"/>
          <p:cNvSpPr txBox="1"/>
          <p:nvPr>
            <p:ph idx="1" type="subTitle"/>
          </p:nvPr>
        </p:nvSpPr>
        <p:spPr>
          <a:xfrm>
            <a:off x="3722700" y="2621775"/>
            <a:ext cx="54213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Useful for scanning opportunities and threats across the entire watchlist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4"/>
          <p:cNvSpPr txBox="1"/>
          <p:nvPr>
            <p:ph idx="7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Bellevue University</a:t>
            </a:r>
            <a:endParaRPr/>
          </a:p>
        </p:txBody>
      </p:sp>
      <p:sp>
        <p:nvSpPr>
          <p:cNvPr id="493" name="Google Shape;493;p54"/>
          <p:cNvSpPr txBox="1"/>
          <p:nvPr>
            <p:ph idx="8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DSC 670 – Term Project (Milestone 4)</a:t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494" name="Google Shape;494;p54"/>
          <p:cNvSpPr txBox="1"/>
          <p:nvPr>
            <p:ph idx="6" type="subTitle"/>
          </p:nvPr>
        </p:nvSpPr>
        <p:spPr>
          <a:xfrm>
            <a:off x="125700" y="125600"/>
            <a:ext cx="38757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Streamlit Dashboard – Main View</a:t>
            </a:r>
            <a:endParaRPr sz="1400"/>
          </a:p>
        </p:txBody>
      </p:sp>
      <p:sp>
        <p:nvSpPr>
          <p:cNvPr id="495" name="Google Shape;495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6" name="Google Shape;49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77600"/>
            <a:ext cx="8839203" cy="3545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5"/>
          <p:cNvSpPr txBox="1"/>
          <p:nvPr>
            <p:ph idx="7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Bellevue University</a:t>
            </a:r>
            <a:endParaRPr/>
          </a:p>
        </p:txBody>
      </p:sp>
      <p:sp>
        <p:nvSpPr>
          <p:cNvPr id="502" name="Google Shape;502;p55"/>
          <p:cNvSpPr txBox="1"/>
          <p:nvPr>
            <p:ph idx="1" type="subTitle"/>
          </p:nvPr>
        </p:nvSpPr>
        <p:spPr>
          <a:xfrm>
            <a:off x="3684200" y="527550"/>
            <a:ext cx="54213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Number of active tickers (after filters)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Most common decision bucket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Average final score for the filtered subset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55"/>
          <p:cNvSpPr txBox="1"/>
          <p:nvPr>
            <p:ph idx="8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DSC 670 – Term Project (Milestone 4)</a:t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504" name="Google Shape;504;p55"/>
          <p:cNvSpPr txBox="1"/>
          <p:nvPr>
            <p:ph idx="2" type="title"/>
          </p:nvPr>
        </p:nvSpPr>
        <p:spPr>
          <a:xfrm>
            <a:off x="129375" y="52755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Summary KPIs give at-a-glance view of:</a:t>
            </a:r>
            <a:endParaRPr sz="2400"/>
          </a:p>
        </p:txBody>
      </p:sp>
      <p:sp>
        <p:nvSpPr>
          <p:cNvPr id="505" name="Google Shape;505;p55"/>
          <p:cNvSpPr txBox="1"/>
          <p:nvPr>
            <p:ph idx="6" type="subTitle"/>
          </p:nvPr>
        </p:nvSpPr>
        <p:spPr>
          <a:xfrm>
            <a:off x="125700" y="125600"/>
            <a:ext cx="38757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Streamlit Dashboard – Summary &amp; Filters</a:t>
            </a:r>
            <a:endParaRPr sz="1400"/>
          </a:p>
        </p:txBody>
      </p:sp>
      <p:sp>
        <p:nvSpPr>
          <p:cNvPr id="506" name="Google Shape;506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7" name="Google Shape;507;p55"/>
          <p:cNvSpPr txBox="1"/>
          <p:nvPr>
            <p:ph idx="1" type="subTitle"/>
          </p:nvPr>
        </p:nvSpPr>
        <p:spPr>
          <a:xfrm>
            <a:off x="3689488" y="1572800"/>
            <a:ext cx="54213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Visual check of how many tickers land in each bucket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Helps quickly see if the watchlist skews bullish/bearish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55"/>
          <p:cNvSpPr txBox="1"/>
          <p:nvPr>
            <p:ph idx="2" type="title"/>
          </p:nvPr>
        </p:nvSpPr>
        <p:spPr>
          <a:xfrm>
            <a:off x="134663" y="157280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Decision distribution bar chart: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6"/>
          <p:cNvSpPr txBox="1"/>
          <p:nvPr>
            <p:ph idx="7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Bellevue University</a:t>
            </a:r>
            <a:endParaRPr/>
          </a:p>
        </p:txBody>
      </p:sp>
      <p:sp>
        <p:nvSpPr>
          <p:cNvPr id="514" name="Google Shape;514;p56"/>
          <p:cNvSpPr txBox="1"/>
          <p:nvPr>
            <p:ph idx="8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DSC 670 – Term Project (Milestone 4)</a:t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515" name="Google Shape;515;p56"/>
          <p:cNvSpPr txBox="1"/>
          <p:nvPr>
            <p:ph idx="6" type="subTitle"/>
          </p:nvPr>
        </p:nvSpPr>
        <p:spPr>
          <a:xfrm>
            <a:off x="125700" y="125600"/>
            <a:ext cx="38757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Streamlit Dashboard – Summary &amp; Filters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16" name="Google Shape;516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17" name="Google Shape;51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77600"/>
            <a:ext cx="8771389" cy="38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7"/>
          <p:cNvSpPr txBox="1"/>
          <p:nvPr>
            <p:ph idx="7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Bellevue University</a:t>
            </a:r>
            <a:endParaRPr/>
          </a:p>
        </p:txBody>
      </p:sp>
      <p:sp>
        <p:nvSpPr>
          <p:cNvPr id="523" name="Google Shape;523;p57"/>
          <p:cNvSpPr txBox="1"/>
          <p:nvPr>
            <p:ph idx="1" type="subTitle"/>
          </p:nvPr>
        </p:nvSpPr>
        <p:spPr>
          <a:xfrm>
            <a:off x="3684200" y="527550"/>
            <a:ext cx="54213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Full metrics and scoring for the selected symbol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tags show the technical context behind the local_score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57"/>
          <p:cNvSpPr txBox="1"/>
          <p:nvPr>
            <p:ph idx="8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DSC 670 – Term Project (Milestone 4)</a:t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525" name="Google Shape;525;p57"/>
          <p:cNvSpPr txBox="1"/>
          <p:nvPr>
            <p:ph idx="2" type="title"/>
          </p:nvPr>
        </p:nvSpPr>
        <p:spPr>
          <a:xfrm>
            <a:off x="129375" y="52755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Drill-down view for a single ticker:</a:t>
            </a:r>
            <a:endParaRPr sz="2400"/>
          </a:p>
        </p:txBody>
      </p:sp>
      <p:sp>
        <p:nvSpPr>
          <p:cNvPr id="526" name="Google Shape;526;p57"/>
          <p:cNvSpPr txBox="1"/>
          <p:nvPr>
            <p:ph idx="6" type="subTitle"/>
          </p:nvPr>
        </p:nvSpPr>
        <p:spPr>
          <a:xfrm>
            <a:off x="125700" y="125600"/>
            <a:ext cx="38757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Streamlit Dashboard – Per-Ticker Detail</a:t>
            </a:r>
            <a:endParaRPr sz="1400"/>
          </a:p>
        </p:txBody>
      </p:sp>
      <p:sp>
        <p:nvSpPr>
          <p:cNvPr id="527" name="Google Shape;527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8" name="Google Shape;528;p57"/>
          <p:cNvSpPr txBox="1"/>
          <p:nvPr>
            <p:ph idx="1" type="subTitle"/>
          </p:nvPr>
        </p:nvSpPr>
        <p:spPr>
          <a:xfrm>
            <a:off x="3689488" y="1572800"/>
            <a:ext cx="54213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Short natural language explanation of the setup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Justification for stance and score (“why is this Strong Buy / Sell?”)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57"/>
          <p:cNvSpPr txBox="1"/>
          <p:nvPr>
            <p:ph idx="2" type="title"/>
          </p:nvPr>
        </p:nvSpPr>
        <p:spPr>
          <a:xfrm>
            <a:off x="134663" y="157280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LLM Summary provides: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/>
          <p:cNvSpPr txBox="1"/>
          <p:nvPr>
            <p:ph idx="7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Bellevue University</a:t>
            </a:r>
            <a:endParaRPr/>
          </a:p>
        </p:txBody>
      </p:sp>
      <p:sp>
        <p:nvSpPr>
          <p:cNvPr id="535" name="Google Shape;535;p58"/>
          <p:cNvSpPr txBox="1"/>
          <p:nvPr>
            <p:ph idx="8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DSC 670 – Term Project (Milestone 4)</a:t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536" name="Google Shape;536;p58"/>
          <p:cNvSpPr txBox="1"/>
          <p:nvPr>
            <p:ph idx="6" type="subTitle"/>
          </p:nvPr>
        </p:nvSpPr>
        <p:spPr>
          <a:xfrm>
            <a:off x="125700" y="125600"/>
            <a:ext cx="38757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Streamlit Dashboard – Per-Ticker Detail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37" name="Google Shape;537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38" name="Google Shape;53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5425"/>
            <a:ext cx="8839201" cy="2790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9"/>
          <p:cNvSpPr txBox="1"/>
          <p:nvPr>
            <p:ph type="title"/>
          </p:nvPr>
        </p:nvSpPr>
        <p:spPr>
          <a:xfrm>
            <a:off x="133150" y="506600"/>
            <a:ext cx="4105200" cy="22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&amp; Future Work</a:t>
            </a:r>
            <a:endParaRPr/>
          </a:p>
        </p:txBody>
      </p:sp>
      <p:sp>
        <p:nvSpPr>
          <p:cNvPr id="544" name="Google Shape;544;p59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Bellevue University</a:t>
            </a:r>
            <a:endParaRPr/>
          </a:p>
        </p:txBody>
      </p:sp>
      <p:sp>
        <p:nvSpPr>
          <p:cNvPr id="545" name="Google Shape;545;p59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DSC 670 – Term Project (Milestone 4)</a:t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546" name="Google Shape;546;p59"/>
          <p:cNvSpPr txBox="1"/>
          <p:nvPr>
            <p:ph idx="5" type="body"/>
          </p:nvPr>
        </p:nvSpPr>
        <p:spPr>
          <a:xfrm>
            <a:off x="4176975" y="209400"/>
            <a:ext cx="4722600" cy="21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Current model is based on daily data and technical indicators only: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No direct use of fundamentals or news sentiment yet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Fine-tuning dataset size is limited to this course project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Future improvements: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Add fundamentals (P/E, revenue growth, etc.) as extra features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Integrate recent news / sentiment in the stance head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Backtest decisions vs. historical performance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Schedule automatic daily runs and publish dashboard online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Proposal">
  <a:themeElements>
    <a:clrScheme name="Simple Light">
      <a:dk1>
        <a:srgbClr val="000000"/>
      </a:dk1>
      <a:lt1>
        <a:srgbClr val="FFFFFF"/>
      </a:lt1>
      <a:dk2>
        <a:srgbClr val="FCEB00"/>
      </a:dk2>
      <a:lt2>
        <a:srgbClr val="000000"/>
      </a:lt2>
      <a:accent1>
        <a:srgbClr val="D9D9D9"/>
      </a:accent1>
      <a:accent2>
        <a:srgbClr val="999999"/>
      </a:accent2>
      <a:accent3>
        <a:srgbClr val="525252"/>
      </a:accent3>
      <a:accent4>
        <a:srgbClr val="EFEFEF"/>
      </a:accent4>
      <a:accent5>
        <a:srgbClr val="0097A7"/>
      </a:accent5>
      <a:accent6>
        <a:srgbClr val="EEFF4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